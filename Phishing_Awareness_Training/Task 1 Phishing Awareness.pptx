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100" d="100"/>
          <a:sy n="100" d="100"/>
        </p:scale>
        <p:origin x="185" y="-8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E0140EF-0073-4ECC-BB3D-9433AB8DB35D}" type="datetimeFigureOut">
              <a:rPr lang="en-US" smtClean="0"/>
              <a:t>6/17/2026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A90DCF-2E26-465E-BC77-E8CB4DBA198A}" type="slidenum">
              <a:rPr lang="en-US" smtClean="0"/>
              <a:t>‹#›</a:t>
            </a:fld>
            <a:endParaRPr lang="en-US"/>
          </a:p>
        </p:txBody>
      </p:sp>
    </p:spTree>
    <p:extLst>
      <p:ext uri="{BB962C8B-B14F-4D97-AF65-F5344CB8AC3E}">
        <p14:creationId xmlns:p14="http://schemas.microsoft.com/office/powerpoint/2010/main" val="14110759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descr="Brickwork-HD-R1a.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12" name="Freeform 11"/>
          <p:cNvSpPr/>
          <p:nvPr/>
        </p:nvSpPr>
        <p:spPr>
          <a:xfrm>
            <a:off x="-15875" y="0"/>
            <a:ext cx="11683810" cy="6588125"/>
          </a:xfrm>
          <a:custGeom>
            <a:avLst/>
            <a:gdLst/>
            <a:ahLst/>
            <a:cxnLst/>
            <a:rect l="l" t="t" r="r" b="b"/>
            <a:pathLst>
              <a:path w="11683810" h="6588125">
                <a:moveTo>
                  <a:pt x="0" y="0"/>
                </a:moveTo>
                <a:lnTo>
                  <a:pt x="11318691" y="0"/>
                </a:lnTo>
                <a:lnTo>
                  <a:pt x="11683810" y="5976938"/>
                </a:lnTo>
                <a:lnTo>
                  <a:pt x="15875" y="6588125"/>
                </a:lnTo>
                <a:cubicBezTo>
                  <a:pt x="10583" y="4386792"/>
                  <a:pt x="5292" y="2185458"/>
                  <a:pt x="0" y="0"/>
                </a:cubicBezTo>
                <a:close/>
              </a:path>
            </a:pathLst>
          </a:custGeom>
          <a:ln>
            <a:noFill/>
          </a:ln>
          <a:effectLst>
            <a:outerShdw blurRad="101600" dist="152400" dir="4380000" algn="tl" rotWithShape="0">
              <a:srgbClr val="000000">
                <a:alpha val="43000"/>
              </a:srgbClr>
            </a:outerShdw>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0" y="4282257"/>
            <a:ext cx="11329257" cy="2028845"/>
          </a:xfrm>
          <a:custGeom>
            <a:avLst/>
            <a:gdLst/>
            <a:ahLst/>
            <a:cxnLst/>
            <a:rect l="l" t="t" r="r" b="b"/>
            <a:pathLst>
              <a:path w="11329257" h="2028845">
                <a:moveTo>
                  <a:pt x="0" y="588520"/>
                </a:moveTo>
                <a:lnTo>
                  <a:pt x="11244075" y="0"/>
                </a:lnTo>
                <a:lnTo>
                  <a:pt x="11329257" y="1424838"/>
                </a:lnTo>
                <a:lnTo>
                  <a:pt x="0" y="2028845"/>
                </a:lnTo>
                <a:lnTo>
                  <a:pt x="0" y="588520"/>
                </a:lnTo>
                <a:close/>
              </a:path>
            </a:pathLst>
          </a:cu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sp>
        <p:nvSpPr>
          <p:cNvPr id="26" name="Freeform 25"/>
          <p:cNvSpPr/>
          <p:nvPr/>
        </p:nvSpPr>
        <p:spPr>
          <a:xfrm>
            <a:off x="0" y="0"/>
            <a:ext cx="8719579" cy="456877"/>
          </a:xfrm>
          <a:custGeom>
            <a:avLst/>
            <a:gdLst/>
            <a:ahLst/>
            <a:cxnLst/>
            <a:rect l="l" t="t" r="r" b="b"/>
            <a:pathLst>
              <a:path w="8719579" h="456877">
                <a:moveTo>
                  <a:pt x="0" y="0"/>
                </a:moveTo>
                <a:lnTo>
                  <a:pt x="8719579" y="0"/>
                </a:lnTo>
                <a:lnTo>
                  <a:pt x="0" y="456877"/>
                </a:lnTo>
                <a:lnTo>
                  <a:pt x="0" y="0"/>
                </a:lnTo>
                <a:close/>
              </a:path>
            </a:pathLst>
          </a:cu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rot="21420000">
            <a:off x="-161800" y="293317"/>
            <a:ext cx="11367116" cy="5751804"/>
          </a:xfrm>
          <a:custGeom>
            <a:avLst/>
            <a:gdLst/>
            <a:ahLst/>
            <a:cxnLst/>
            <a:rect l="l" t="t" r="r" b="b"/>
            <a:pathLst>
              <a:path w="11367116" h="5751804">
                <a:moveTo>
                  <a:pt x="11346705" y="0"/>
                </a:moveTo>
                <a:cubicBezTo>
                  <a:pt x="11353509" y="1915114"/>
                  <a:pt x="11360312" y="3830229"/>
                  <a:pt x="11367116" y="5745343"/>
                </a:cubicBezTo>
                <a:lnTo>
                  <a:pt x="0" y="5751804"/>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sp>
      <p:sp>
        <p:nvSpPr>
          <p:cNvPr id="2" name="Title 1"/>
          <p:cNvSpPr>
            <a:spLocks noGrp="1"/>
          </p:cNvSpPr>
          <p:nvPr>
            <p:ph type="ctrTitle"/>
          </p:nvPr>
        </p:nvSpPr>
        <p:spPr>
          <a:xfrm rot="21420000">
            <a:off x="891201" y="662656"/>
            <a:ext cx="9755187" cy="2766528"/>
          </a:xfrm>
        </p:spPr>
        <p:txBody>
          <a:bodyPr anchor="b">
            <a:normAutofit/>
          </a:bodyPr>
          <a:lstStyle>
            <a:lvl1pPr algn="r">
              <a:defRPr sz="8000"/>
            </a:lvl1pPr>
          </a:lstStyle>
          <a:p>
            <a:r>
              <a:rPr lang="en-US"/>
              <a:t>Click to edit Master title style</a:t>
            </a:r>
            <a:endParaRPr lang="en-US" dirty="0"/>
          </a:p>
        </p:txBody>
      </p:sp>
      <p:sp>
        <p:nvSpPr>
          <p:cNvPr id="3" name="Subtitle 2"/>
          <p:cNvSpPr>
            <a:spLocks noGrp="1"/>
          </p:cNvSpPr>
          <p:nvPr>
            <p:ph type="subTitle" idx="1"/>
          </p:nvPr>
        </p:nvSpPr>
        <p:spPr>
          <a:xfrm rot="21420000">
            <a:off x="983062" y="3505209"/>
            <a:ext cx="9755187" cy="550333"/>
          </a:xfrm>
        </p:spPr>
        <p:txBody>
          <a:bodyPr anchor="t">
            <a:noAutofit/>
          </a:bodyPr>
          <a:lstStyle>
            <a:lvl1pPr marL="0" indent="0" algn="r">
              <a:buNone/>
              <a:defRPr sz="28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rot="21420000">
            <a:off x="4948541" y="4578463"/>
            <a:ext cx="6143653" cy="1163112"/>
          </a:xfrm>
        </p:spPr>
        <p:txBody>
          <a:bodyPr/>
          <a:lstStyle>
            <a:lvl1pPr algn="ctr">
              <a:defRPr sz="5400">
                <a:solidFill>
                  <a:schemeClr val="accent1">
                    <a:lumMod val="50000"/>
                  </a:schemeClr>
                </a:solidFill>
              </a:defRPr>
            </a:lvl1pPr>
          </a:lstStyle>
          <a:p>
            <a:fld id="{3274D93F-0162-4767-8C91-8D0FF370A8DC}" type="datetime1">
              <a:rPr lang="en-US" smtClean="0"/>
              <a:t>6/17/2026</a:t>
            </a:fld>
            <a:endParaRPr lang="en-US"/>
          </a:p>
        </p:txBody>
      </p:sp>
      <p:sp>
        <p:nvSpPr>
          <p:cNvPr id="5" name="Footer Placeholder 4"/>
          <p:cNvSpPr>
            <a:spLocks noGrp="1"/>
          </p:cNvSpPr>
          <p:nvPr>
            <p:ph type="ftr" sz="quarter" idx="11"/>
          </p:nvPr>
        </p:nvSpPr>
        <p:spPr>
          <a:xfrm rot="21420000">
            <a:off x="-5560" y="4883024"/>
            <a:ext cx="4047239" cy="1195538"/>
          </a:xfrm>
        </p:spPr>
        <p:txBody>
          <a:bodyPr vert="horz" lIns="91440" tIns="45720" rIns="91440" bIns="45720" rtlCol="0" anchor="ctr"/>
          <a:lstStyle>
            <a:lvl1pPr algn="r">
              <a:defRPr lang="en-US" sz="5400" dirty="0"/>
            </a:lvl1pPr>
          </a:lstStyle>
          <a:p>
            <a:endParaRPr lang="en-US"/>
          </a:p>
        </p:txBody>
      </p:sp>
      <p:sp>
        <p:nvSpPr>
          <p:cNvPr id="6" name="Slide Number Placeholder 5"/>
          <p:cNvSpPr>
            <a:spLocks noGrp="1"/>
          </p:cNvSpPr>
          <p:nvPr>
            <p:ph type="sldNum" sz="quarter" idx="12"/>
          </p:nvPr>
        </p:nvSpPr>
        <p:spPr>
          <a:xfrm rot="21420000">
            <a:off x="9851758" y="3832648"/>
            <a:ext cx="907186" cy="498470"/>
          </a:xfrm>
        </p:spPr>
        <p:txBody>
          <a:bodyPr/>
          <a:lstStyle>
            <a:lvl1pPr>
              <a:defRPr sz="2400">
                <a:solidFill>
                  <a:schemeClr val="tx1">
                    <a:lumMod val="75000"/>
                    <a:lumOff val="25000"/>
                  </a:schemeClr>
                </a:solidFill>
              </a:defRPr>
            </a:lvl1pPr>
          </a:lstStyle>
          <a:p>
            <a:fld id="{6ECB8E56-343A-46AB-9333-D5E39BC3F310}" type="slidenum">
              <a:rPr lang="en-US" smtClean="0"/>
              <a:t>‹#›</a:t>
            </a:fld>
            <a:endParaRPr lang="en-US"/>
          </a:p>
        </p:txBody>
      </p:sp>
      <p:sp>
        <p:nvSpPr>
          <p:cNvPr id="25" name="5-Point Star 24"/>
          <p:cNvSpPr/>
          <p:nvPr/>
        </p:nvSpPr>
        <p:spPr>
          <a:xfrm rot="21420000">
            <a:off x="4221385" y="5111356"/>
            <a:ext cx="515386" cy="515386"/>
          </a:xfrm>
          <a:prstGeom prst="star5">
            <a:avLst>
              <a:gd name="adj" fmla="val 26693"/>
              <a:gd name="hf" fmla="val 105146"/>
              <a:gd name="vf" fmla="val 110557"/>
            </a:avLst>
          </a:prstGeom>
          <a:solidFill>
            <a:schemeClr val="tx1">
              <a:alpha val="40000"/>
            </a:schemeClr>
          </a:solidFill>
          <a:ln>
            <a:noFill/>
          </a:ln>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17187481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685800" y="2063396"/>
            <a:ext cx="10394707" cy="33111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A2A33F9-F561-4062-939A-8D9A40C97B50}" type="datetime1">
              <a:rPr lang="en-US" smtClean="0"/>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CB8E56-343A-46AB-9333-D5E39BC3F310}" type="slidenum">
              <a:rPr lang="en-US" smtClean="0"/>
              <a:t>‹#›</a:t>
            </a:fld>
            <a:endParaRPr lang="en-US"/>
          </a:p>
        </p:txBody>
      </p:sp>
    </p:spTree>
    <p:extLst>
      <p:ext uri="{BB962C8B-B14F-4D97-AF65-F5344CB8AC3E}">
        <p14:creationId xmlns:p14="http://schemas.microsoft.com/office/powerpoint/2010/main" val="4398197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1" y="685800"/>
            <a:ext cx="10394707" cy="3193487"/>
          </a:xfrm>
        </p:spPr>
        <p:txBody>
          <a:bodyPr anchor="b">
            <a:normAutofit/>
          </a:bodyPr>
          <a:lstStyle>
            <a:lvl1pPr algn="l">
              <a:defRPr sz="5400"/>
            </a:lvl1pPr>
          </a:lstStyle>
          <a:p>
            <a:r>
              <a:rPr lang="en-US"/>
              <a:t>Click to edit Master title style</a:t>
            </a:r>
            <a:endParaRPr lang="en-US" dirty="0"/>
          </a:p>
        </p:txBody>
      </p:sp>
      <p:sp>
        <p:nvSpPr>
          <p:cNvPr id="3" name="Text Placeholder 2"/>
          <p:cNvSpPr>
            <a:spLocks noGrp="1"/>
          </p:cNvSpPr>
          <p:nvPr>
            <p:ph type="body" idx="1"/>
          </p:nvPr>
        </p:nvSpPr>
        <p:spPr>
          <a:xfrm>
            <a:off x="685801" y="3742267"/>
            <a:ext cx="10394707" cy="1639614"/>
          </a:xfrm>
        </p:spPr>
        <p:txBody>
          <a:bodyPr anchor="t">
            <a:normAutofit/>
          </a:bodyPr>
          <a:lstStyle>
            <a:lvl1pPr marL="0" indent="0" algn="l">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070260-5DF2-4EC2-97E6-12B253A198B7}" type="datetime1">
              <a:rPr lang="en-US" smtClean="0"/>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CB8E56-343A-46AB-9333-D5E39BC3F310}" type="slidenum">
              <a:rPr lang="en-US" smtClean="0"/>
              <a:t>‹#›</a:t>
            </a:fld>
            <a:endParaRPr lang="en-US"/>
          </a:p>
        </p:txBody>
      </p:sp>
    </p:spTree>
    <p:extLst>
      <p:ext uri="{BB962C8B-B14F-4D97-AF65-F5344CB8AC3E}">
        <p14:creationId xmlns:p14="http://schemas.microsoft.com/office/powerpoint/2010/main" val="29125996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4" name="Title 1"/>
          <p:cNvSpPr>
            <a:spLocks noGrp="1"/>
          </p:cNvSpPr>
          <p:nvPr>
            <p:ph type="title"/>
          </p:nvPr>
        </p:nvSpPr>
        <p:spPr>
          <a:xfrm>
            <a:off x="685801" y="685800"/>
            <a:ext cx="10396882" cy="1158140"/>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685800" y="2063396"/>
            <a:ext cx="5088714" cy="3311189"/>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5993971" y="2063396"/>
            <a:ext cx="5086538" cy="3311189"/>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B565D51-547A-4F6E-9544-5825008D3B48}" type="datetime1">
              <a:rPr lang="en-US" smtClean="0"/>
              <a:t>6/17/2026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CB8E56-343A-46AB-9333-D5E39BC3F310}" type="slidenum">
              <a:rPr lang="en-US" smtClean="0"/>
              <a:t>‹#›</a:t>
            </a:fld>
            <a:endParaRPr lang="en-US"/>
          </a:p>
        </p:txBody>
      </p:sp>
    </p:spTree>
    <p:extLst>
      <p:ext uri="{BB962C8B-B14F-4D97-AF65-F5344CB8AC3E}">
        <p14:creationId xmlns:p14="http://schemas.microsoft.com/office/powerpoint/2010/main" val="13408158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4" name="Title 1"/>
          <p:cNvSpPr>
            <a:spLocks noGrp="1"/>
          </p:cNvSpPr>
          <p:nvPr>
            <p:ph type="title"/>
          </p:nvPr>
        </p:nvSpPr>
        <p:spPr>
          <a:xfrm>
            <a:off x="685801" y="685800"/>
            <a:ext cx="10394707" cy="115814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8356" y="2063396"/>
            <a:ext cx="4856158" cy="679994"/>
          </a:xfrm>
        </p:spPr>
        <p:txBody>
          <a:bodyPr anchor="b">
            <a:noAutofit/>
          </a:bodyPr>
          <a:lstStyle>
            <a:lvl1pPr marL="0" indent="0">
              <a:lnSpc>
                <a:spcPct val="90000"/>
              </a:lnSpc>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685802" y="2861733"/>
            <a:ext cx="5088712" cy="2512852"/>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8191" y="2063396"/>
            <a:ext cx="4864491" cy="679994"/>
          </a:xfrm>
        </p:spPr>
        <p:txBody>
          <a:bodyPr anchor="b">
            <a:noAutofit/>
          </a:bodyPr>
          <a:lstStyle>
            <a:lvl1pPr marL="0" indent="0">
              <a:lnSpc>
                <a:spcPct val="90000"/>
              </a:lnSpc>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5993969" y="2861733"/>
            <a:ext cx="5088713" cy="2512852"/>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B92F2DB-7C04-451F-875B-4CA118AF2CCB}" type="datetime1">
              <a:rPr lang="en-US" smtClean="0"/>
              <a:t>6/17/2026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ECB8E56-343A-46AB-9333-D5E39BC3F310}" type="slidenum">
              <a:rPr lang="en-US" smtClean="0"/>
              <a:t>‹#›</a:t>
            </a:fld>
            <a:endParaRPr lang="en-US"/>
          </a:p>
        </p:txBody>
      </p:sp>
    </p:spTree>
    <p:extLst>
      <p:ext uri="{BB962C8B-B14F-4D97-AF65-F5344CB8AC3E}">
        <p14:creationId xmlns:p14="http://schemas.microsoft.com/office/powerpoint/2010/main" val="3262364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AF40C1F-5607-4819-9352-8E900C2F335F}" type="datetime1">
              <a:rPr lang="en-US" smtClean="0"/>
              <a:t>6/17/2026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ECB8E56-343A-46AB-9333-D5E39BC3F310}" type="slidenum">
              <a:rPr lang="en-US" smtClean="0"/>
              <a:t>‹#›</a:t>
            </a:fld>
            <a:endParaRPr lang="en-US"/>
          </a:p>
        </p:txBody>
      </p:sp>
    </p:spTree>
    <p:extLst>
      <p:ext uri="{BB962C8B-B14F-4D97-AF65-F5344CB8AC3E}">
        <p14:creationId xmlns:p14="http://schemas.microsoft.com/office/powerpoint/2010/main" val="21090303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AC0B4CA-3F4A-474B-A355-3D14812824E1}" type="datetime1">
              <a:rPr lang="en-US" smtClean="0"/>
              <a:t>6/17/2026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ECB8E56-343A-46AB-9333-D5E39BC3F310}" type="slidenum">
              <a:rPr lang="en-US" smtClean="0"/>
              <a:t>‹#›</a:t>
            </a:fld>
            <a:endParaRPr lang="en-US"/>
          </a:p>
        </p:txBody>
      </p:sp>
    </p:spTree>
    <p:extLst>
      <p:ext uri="{BB962C8B-B14F-4D97-AF65-F5344CB8AC3E}">
        <p14:creationId xmlns:p14="http://schemas.microsoft.com/office/powerpoint/2010/main" val="30793205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3643" y="685800"/>
            <a:ext cx="4126860" cy="2023252"/>
          </a:xfrm>
        </p:spPr>
        <p:txBody>
          <a:bodyPr anchor="b">
            <a:normAutofit/>
          </a:bodyPr>
          <a:lstStyle>
            <a:lvl1pPr algn="ctr">
              <a:defRPr sz="3600"/>
            </a:lvl1pPr>
          </a:lstStyle>
          <a:p>
            <a:r>
              <a:rPr lang="en-US"/>
              <a:t>Click to edit Master title style</a:t>
            </a:r>
            <a:endParaRPr lang="en-US" dirty="0"/>
          </a:p>
        </p:txBody>
      </p:sp>
      <p:sp>
        <p:nvSpPr>
          <p:cNvPr id="10" name="Content Placeholder 2"/>
          <p:cNvSpPr>
            <a:spLocks noGrp="1"/>
          </p:cNvSpPr>
          <p:nvPr>
            <p:ph sz="quarter" idx="13"/>
          </p:nvPr>
        </p:nvSpPr>
        <p:spPr>
          <a:xfrm>
            <a:off x="5046132" y="685800"/>
            <a:ext cx="6034375" cy="46887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93642" y="2709052"/>
            <a:ext cx="4126861" cy="2665533"/>
          </a:xfrm>
        </p:spPr>
        <p:txBody>
          <a:bodyPr anchor="t">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50566E0-7501-41A8-88F1-3962E7F1AD37}" type="datetime1">
              <a:rPr lang="en-US" smtClean="0"/>
              <a:t>6/17/2026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CB8E56-343A-46AB-9333-D5E39BC3F310}" type="slidenum">
              <a:rPr lang="en-US" smtClean="0"/>
              <a:t>‹#›</a:t>
            </a:fld>
            <a:endParaRPr lang="en-US"/>
          </a:p>
        </p:txBody>
      </p:sp>
    </p:spTree>
    <p:extLst>
      <p:ext uri="{BB962C8B-B14F-4D97-AF65-F5344CB8AC3E}">
        <p14:creationId xmlns:p14="http://schemas.microsoft.com/office/powerpoint/2010/main" val="9530559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685800"/>
            <a:ext cx="6345302" cy="2023252"/>
          </a:xfrm>
        </p:spPr>
        <p:txBody>
          <a:bodyPr anchor="b">
            <a:normAutofit/>
          </a:bodyPr>
          <a:lstStyle>
            <a:lvl1pPr algn="ctr">
              <a:defRPr sz="36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82362" y="0"/>
            <a:ext cx="3598146" cy="5071533"/>
          </a:xfrm>
          <a:ln w="57150" cmpd="thinThick">
            <a:solidFill>
              <a:schemeClr val="bg1">
                <a:lumMod val="50000"/>
              </a:schemeClr>
            </a:solidFill>
            <a:miter lim="800000"/>
          </a:ln>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1" y="2709052"/>
            <a:ext cx="6345301" cy="2362481"/>
          </a:xfrm>
        </p:spPr>
        <p:txBody>
          <a:bodyPr anchor="t">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23A378F-ECFA-4AAD-BEC0-3F87E74A62B6}" type="datetime1">
              <a:rPr lang="en-US" smtClean="0"/>
              <a:t>6/17/2026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CB8E56-343A-46AB-9333-D5E39BC3F310}" type="slidenum">
              <a:rPr lang="en-US" smtClean="0"/>
              <a:t>‹#›</a:t>
            </a:fld>
            <a:endParaRPr lang="en-US"/>
          </a:p>
        </p:txBody>
      </p:sp>
    </p:spTree>
    <p:extLst>
      <p:ext uri="{BB962C8B-B14F-4D97-AF65-F5344CB8AC3E}">
        <p14:creationId xmlns:p14="http://schemas.microsoft.com/office/powerpoint/2010/main" val="13285496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4106333"/>
            <a:ext cx="10394708" cy="58884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5801" y="685799"/>
            <a:ext cx="10392513" cy="3194903"/>
          </a:xfrm>
          <a:ln w="57150" cmpd="thinThick">
            <a:solidFill>
              <a:schemeClr val="bg1">
                <a:lumMod val="50000"/>
              </a:schemeClr>
            </a:solidFill>
            <a:miter lim="800000"/>
          </a:ln>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780" y="4702923"/>
            <a:ext cx="10394728" cy="682472"/>
          </a:xfrm>
        </p:spPr>
        <p:txBody>
          <a:bodyPr anchor="t"/>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DC16172-6BA2-40E6-B1DF-509CDE189C31}" type="datetime1">
              <a:rPr lang="en-US" smtClean="0"/>
              <a:t>6/17/2026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CB8E56-343A-46AB-9333-D5E39BC3F310}" type="slidenum">
              <a:rPr lang="en-US" smtClean="0"/>
              <a:t>‹#›</a:t>
            </a:fld>
            <a:endParaRPr lang="en-US"/>
          </a:p>
        </p:txBody>
      </p:sp>
    </p:spTree>
    <p:extLst>
      <p:ext uri="{BB962C8B-B14F-4D97-AF65-F5344CB8AC3E}">
        <p14:creationId xmlns:p14="http://schemas.microsoft.com/office/powerpoint/2010/main" val="19224129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1" y="685800"/>
            <a:ext cx="10396902" cy="3194903"/>
          </a:xfrm>
        </p:spPr>
        <p:txBody>
          <a:bodyPr anchor="ctr">
            <a:normAutofit/>
          </a:bodyPr>
          <a:lstStyle>
            <a:lvl1pPr algn="ctr">
              <a:defRPr sz="4800"/>
            </a:lvl1pPr>
          </a:lstStyle>
          <a:p>
            <a:r>
              <a:rPr lang="en-US"/>
              <a:t>Click to edit Master title style</a:t>
            </a:r>
            <a:endParaRPr lang="en-US" dirty="0"/>
          </a:p>
        </p:txBody>
      </p:sp>
      <p:sp>
        <p:nvSpPr>
          <p:cNvPr id="4" name="Text Placeholder 3"/>
          <p:cNvSpPr>
            <a:spLocks noGrp="1"/>
          </p:cNvSpPr>
          <p:nvPr>
            <p:ph type="body" sz="half" idx="2"/>
          </p:nvPr>
        </p:nvSpPr>
        <p:spPr>
          <a:xfrm>
            <a:off x="685779" y="4106333"/>
            <a:ext cx="10394729" cy="1273606"/>
          </a:xfrm>
        </p:spPr>
        <p:txBody>
          <a:bodyPr anchor="ct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2BF8409-AB70-4288-9E1D-28F50C1C4846}" type="datetime1">
              <a:rPr lang="en-US" smtClean="0"/>
              <a:t>6/17/2026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CB8E56-343A-46AB-9333-D5E39BC3F310}" type="slidenum">
              <a:rPr lang="en-US" smtClean="0"/>
              <a:t>‹#›</a:t>
            </a:fld>
            <a:endParaRPr lang="en-US"/>
          </a:p>
        </p:txBody>
      </p:sp>
    </p:spTree>
    <p:extLst>
      <p:ext uri="{BB962C8B-B14F-4D97-AF65-F5344CB8AC3E}">
        <p14:creationId xmlns:p14="http://schemas.microsoft.com/office/powerpoint/2010/main" val="13947183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21732" y="685800"/>
            <a:ext cx="9525020" cy="2916704"/>
          </a:xfrm>
        </p:spPr>
        <p:txBody>
          <a:bodyPr anchor="ctr">
            <a:normAutofit/>
          </a:bodyPr>
          <a:lstStyle>
            <a:lvl1pPr algn="ctr">
              <a:defRPr sz="4800"/>
            </a:lvl1pPr>
          </a:lstStyle>
          <a:p>
            <a:r>
              <a:rPr lang="en-US"/>
              <a:t>Click to edit Master title style</a:t>
            </a:r>
            <a:endParaRPr lang="en-US" dirty="0"/>
          </a:p>
        </p:txBody>
      </p:sp>
      <p:sp>
        <p:nvSpPr>
          <p:cNvPr id="12" name="Text Placeholder 3"/>
          <p:cNvSpPr>
            <a:spLocks noGrp="1"/>
          </p:cNvSpPr>
          <p:nvPr>
            <p:ph type="body" sz="half" idx="13"/>
          </p:nvPr>
        </p:nvSpPr>
        <p:spPr>
          <a:xfrm>
            <a:off x="1550264" y="3610032"/>
            <a:ext cx="8667956" cy="377768"/>
          </a:xfrm>
        </p:spPr>
        <p:txBody>
          <a:bodyPr anchor="t">
            <a:normAutofit/>
          </a:bodyPr>
          <a:lstStyle>
            <a:lvl1pPr marL="0" indent="0" algn="r">
              <a:buNone/>
              <a:defRPr sz="1400">
                <a:solidFill>
                  <a:schemeClr val="tx1">
                    <a:lumMod val="50000"/>
                    <a:lumOff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5801" y="4106334"/>
            <a:ext cx="10396882" cy="1268252"/>
          </a:xfrm>
        </p:spPr>
        <p:txBody>
          <a:bodyPr anchor="ct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B54880E-831B-47CA-A662-6D30078525F1}" type="datetime1">
              <a:rPr lang="en-US" smtClean="0"/>
              <a:t>6/17/2026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CB8E56-343A-46AB-9333-D5E39BC3F310}" type="slidenum">
              <a:rPr lang="en-US" smtClean="0"/>
              <a:t>‹#›</a:t>
            </a:fld>
            <a:endParaRPr lang="en-US"/>
          </a:p>
        </p:txBody>
      </p:sp>
      <p:sp>
        <p:nvSpPr>
          <p:cNvPr id="13" name="TextBox 12"/>
          <p:cNvSpPr txBox="1"/>
          <p:nvPr/>
        </p:nvSpPr>
        <p:spPr>
          <a:xfrm>
            <a:off x="685801" y="89262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473083" y="292282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2538420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5800" y="1723854"/>
            <a:ext cx="10394707" cy="2511835"/>
          </a:xfrm>
        </p:spPr>
        <p:txBody>
          <a:bodyPr anchor="b">
            <a:normAutofit/>
          </a:bodyPr>
          <a:lstStyle>
            <a:lvl1pPr algn="l">
              <a:defRPr sz="4800"/>
            </a:lvl1pPr>
          </a:lstStyle>
          <a:p>
            <a:r>
              <a:rPr lang="en-US"/>
              <a:t>Click to edit Master title style</a:t>
            </a:r>
            <a:endParaRPr lang="en-US" dirty="0"/>
          </a:p>
        </p:txBody>
      </p:sp>
      <p:sp>
        <p:nvSpPr>
          <p:cNvPr id="4" name="Text Placeholder 3"/>
          <p:cNvSpPr>
            <a:spLocks noGrp="1"/>
          </p:cNvSpPr>
          <p:nvPr>
            <p:ph type="body" sz="half" idx="2"/>
          </p:nvPr>
        </p:nvSpPr>
        <p:spPr>
          <a:xfrm>
            <a:off x="685800" y="4247468"/>
            <a:ext cx="10394707" cy="1140644"/>
          </a:xfrm>
        </p:spPr>
        <p:txBody>
          <a:bodyPr anchor="t">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52587A4-AF86-453D-A3BA-8E89B74EB69A}" type="datetime1">
              <a:rPr lang="en-US" smtClean="0"/>
              <a:t>6/17/2026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CB8E56-343A-46AB-9333-D5E39BC3F310}" type="slidenum">
              <a:rPr lang="en-US" smtClean="0"/>
              <a:t>‹#›</a:t>
            </a:fld>
            <a:endParaRPr lang="en-US"/>
          </a:p>
        </p:txBody>
      </p:sp>
    </p:spTree>
    <p:extLst>
      <p:ext uri="{BB962C8B-B14F-4D97-AF65-F5344CB8AC3E}">
        <p14:creationId xmlns:p14="http://schemas.microsoft.com/office/powerpoint/2010/main" val="12576749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685802" y="685800"/>
            <a:ext cx="10394706" cy="1151965"/>
          </a:xfrm>
        </p:spPr>
        <p:txBody>
          <a:bodyPr/>
          <a:lstStyle>
            <a:lvl1pPr algn="ctr">
              <a:defRPr/>
            </a:lvl1pPr>
          </a:lstStyle>
          <a:p>
            <a:r>
              <a:rPr lang="en-US"/>
              <a:t>Click to edit Master title style</a:t>
            </a:r>
            <a:endParaRPr lang="en-US" dirty="0"/>
          </a:p>
        </p:txBody>
      </p:sp>
      <p:sp>
        <p:nvSpPr>
          <p:cNvPr id="7" name="Text Placeholder 2"/>
          <p:cNvSpPr>
            <a:spLocks noGrp="1"/>
          </p:cNvSpPr>
          <p:nvPr>
            <p:ph type="body" idx="1"/>
          </p:nvPr>
        </p:nvSpPr>
        <p:spPr>
          <a:xfrm>
            <a:off x="685802"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802"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234622"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234621"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770380"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770380"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B3F392E0-9703-45CF-92B0-DEBEAE12CE26}" type="datetime1">
              <a:rPr lang="en-US" smtClean="0"/>
              <a:t>6/17/2026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ECB8E56-343A-46AB-9333-D5E39BC3F310}" type="slidenum">
              <a:rPr lang="en-US" smtClean="0"/>
              <a:t>‹#›</a:t>
            </a:fld>
            <a:endParaRPr lang="en-US"/>
          </a:p>
        </p:txBody>
      </p:sp>
    </p:spTree>
    <p:extLst>
      <p:ext uri="{BB962C8B-B14F-4D97-AF65-F5344CB8AC3E}">
        <p14:creationId xmlns:p14="http://schemas.microsoft.com/office/powerpoint/2010/main" val="95113844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685801" y="685800"/>
            <a:ext cx="10396882" cy="1151965"/>
          </a:xfrm>
        </p:spPr>
        <p:txBody>
          <a:bodyPr/>
          <a:lstStyle>
            <a:lvl1pPr algn="ctr">
              <a:defRPr/>
            </a:lvl1pPr>
          </a:lstStyle>
          <a:p>
            <a:r>
              <a:rPr lang="en-US"/>
              <a:t>Click to edit Master title style</a:t>
            </a:r>
            <a:endParaRPr lang="en-US" dirty="0"/>
          </a:p>
        </p:txBody>
      </p:sp>
      <p:sp>
        <p:nvSpPr>
          <p:cNvPr id="19" name="Text Placeholder 2"/>
          <p:cNvSpPr>
            <a:spLocks noGrp="1"/>
          </p:cNvSpPr>
          <p:nvPr>
            <p:ph type="body" idx="1"/>
          </p:nvPr>
        </p:nvSpPr>
        <p:spPr>
          <a:xfrm>
            <a:off x="691840"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5780" y="2063395"/>
            <a:ext cx="3310128" cy="1536725"/>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91840" y="4389287"/>
            <a:ext cx="3310128" cy="98529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237410"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235999" y="2063395"/>
            <a:ext cx="3310128" cy="1535237"/>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235999" y="4389286"/>
            <a:ext cx="3310128" cy="98530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768944"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768819" y="2063394"/>
            <a:ext cx="3310128" cy="1537196"/>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768819" y="4389284"/>
            <a:ext cx="3310128" cy="985302"/>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62AA920C-79E4-4E15-A086-0BFD1FB8E057}" type="datetime1">
              <a:rPr lang="en-US" smtClean="0"/>
              <a:t>6/17/2026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ECB8E56-343A-46AB-9333-D5E39BC3F310}" type="slidenum">
              <a:rPr lang="en-US" smtClean="0"/>
              <a:t>‹#›</a:t>
            </a:fld>
            <a:endParaRPr lang="en-US"/>
          </a:p>
        </p:txBody>
      </p:sp>
    </p:spTree>
    <p:extLst>
      <p:ext uri="{BB962C8B-B14F-4D97-AF65-F5344CB8AC3E}">
        <p14:creationId xmlns:p14="http://schemas.microsoft.com/office/powerpoint/2010/main" val="23868411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r">
              <a:defRPr/>
            </a:lvl1p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685800" y="2063396"/>
            <a:ext cx="10394707" cy="331119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6B1E423-754A-4E17-B198-2362ECA6FF50}" type="datetime1">
              <a:rPr lang="en-US" smtClean="0"/>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CB8E56-343A-46AB-9333-D5E39BC3F310}" type="slidenum">
              <a:rPr lang="en-US" smtClean="0"/>
              <a:t>‹#›</a:t>
            </a:fld>
            <a:endParaRPr lang="en-US"/>
          </a:p>
        </p:txBody>
      </p:sp>
    </p:spTree>
    <p:extLst>
      <p:ext uri="{BB962C8B-B14F-4D97-AF65-F5344CB8AC3E}">
        <p14:creationId xmlns:p14="http://schemas.microsoft.com/office/powerpoint/2010/main" val="219258908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15862" y="685800"/>
            <a:ext cx="2264646" cy="4688785"/>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685800" y="685800"/>
            <a:ext cx="7904431" cy="468878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CF4B50E-6798-40C7-9A45-9CCACBC17E32}" type="datetime1">
              <a:rPr lang="en-US" smtClean="0"/>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CB8E56-343A-46AB-9333-D5E39BC3F310}" type="slidenum">
              <a:rPr lang="en-US" smtClean="0"/>
              <a:t>‹#›</a:t>
            </a:fld>
            <a:endParaRPr lang="en-US"/>
          </a:p>
        </p:txBody>
      </p:sp>
    </p:spTree>
    <p:extLst>
      <p:ext uri="{BB962C8B-B14F-4D97-AF65-F5344CB8AC3E}">
        <p14:creationId xmlns:p14="http://schemas.microsoft.com/office/powerpoint/2010/main" val="16212866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jp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7" name="Picture 6" descr="Brickwork-HD-R1a.jp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10" name="Group 9"/>
          <p:cNvGrpSpPr/>
          <p:nvPr/>
        </p:nvGrpSpPr>
        <p:grpSpPr>
          <a:xfrm>
            <a:off x="-25397" y="0"/>
            <a:ext cx="12005350" cy="6644081"/>
            <a:chOff x="-25397" y="0"/>
            <a:chExt cx="12005350" cy="6644081"/>
          </a:xfrm>
        </p:grpSpPr>
        <p:sp useBgFill="1">
          <p:nvSpPr>
            <p:cNvPr id="11" name="Rectangle 10"/>
            <p:cNvSpPr/>
            <p:nvPr/>
          </p:nvSpPr>
          <p:spPr>
            <a:xfrm>
              <a:off x="1" y="0"/>
              <a:ext cx="11979952" cy="6644081"/>
            </a:xfrm>
            <a:prstGeom prst="rect">
              <a:avLst/>
            </a:prstGeom>
            <a:ln>
              <a:noFill/>
            </a:ln>
            <a:effectLst>
              <a:outerShdw blurRad="98425" dist="76200" dir="4380000" algn="tl" rotWithShape="0">
                <a:srgbClr val="000000">
                  <a:alpha val="68000"/>
                </a:srgbClr>
              </a:outerShdw>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25397" y="0"/>
              <a:ext cx="11773291" cy="6419514"/>
            </a:xfrm>
            <a:custGeom>
              <a:avLst/>
              <a:gdLst/>
              <a:ahLst/>
              <a:cxnLst/>
              <a:rect l="l" t="t" r="r" b="b"/>
              <a:pathLst>
                <a:path w="11773291" h="6419514">
                  <a:moveTo>
                    <a:pt x="11750059" y="0"/>
                  </a:moveTo>
                  <a:lnTo>
                    <a:pt x="11773291" y="6419514"/>
                  </a:lnTo>
                  <a:lnTo>
                    <a:pt x="0" y="6411047"/>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sp>
        <p:sp>
          <p:nvSpPr>
            <p:cNvPr id="13" name="Rectangle 12"/>
            <p:cNvSpPr/>
            <p:nvPr/>
          </p:nvSpPr>
          <p:spPr>
            <a:xfrm>
              <a:off x="1" y="5600215"/>
              <a:ext cx="11706512" cy="780581"/>
            </a:xfrm>
            <a:prstGeom prst="rect">
              <a:avLst/>
            </a:pr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85801" y="685800"/>
            <a:ext cx="10396882" cy="115196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063396"/>
            <a:ext cx="10396883" cy="3311189"/>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98083" y="5757334"/>
            <a:ext cx="3784600" cy="498470"/>
          </a:xfrm>
          <a:prstGeom prst="rect">
            <a:avLst/>
          </a:prstGeom>
        </p:spPr>
        <p:txBody>
          <a:bodyPr vert="horz" lIns="91440" tIns="45720" rIns="91440" bIns="45720" rtlCol="0" anchor="ctr"/>
          <a:lstStyle>
            <a:lvl1pPr algn="r">
              <a:defRPr sz="3200" cap="all" baseline="0">
                <a:solidFill>
                  <a:schemeClr val="accent1">
                    <a:lumMod val="50000"/>
                  </a:schemeClr>
                </a:solidFill>
              </a:defRPr>
            </a:lvl1pPr>
          </a:lstStyle>
          <a:p>
            <a:fld id="{3B8B3D66-7FEE-45C6-A02C-A25E6AA3F17A}" type="datetime1">
              <a:rPr lang="en-US" smtClean="0"/>
              <a:t>6/17/2026</a:t>
            </a:fld>
            <a:endParaRPr lang="en-US"/>
          </a:p>
        </p:txBody>
      </p:sp>
      <p:sp>
        <p:nvSpPr>
          <p:cNvPr id="5" name="Footer Placeholder 4"/>
          <p:cNvSpPr>
            <a:spLocks noGrp="1"/>
          </p:cNvSpPr>
          <p:nvPr>
            <p:ph type="ftr" sz="quarter" idx="3"/>
          </p:nvPr>
        </p:nvSpPr>
        <p:spPr>
          <a:xfrm>
            <a:off x="685801" y="5757334"/>
            <a:ext cx="5499719" cy="498470"/>
          </a:xfrm>
          <a:prstGeom prst="rect">
            <a:avLst/>
          </a:prstGeom>
        </p:spPr>
        <p:txBody>
          <a:bodyPr vert="horz" lIns="91440" tIns="45720" rIns="91440" bIns="45720" rtlCol="0" anchor="ctr"/>
          <a:lstStyle>
            <a:lvl1pPr algn="l">
              <a:defRPr sz="3200" cap="all" baseline="0">
                <a:solidFill>
                  <a:schemeClr val="accent1">
                    <a:lumMod val="50000"/>
                  </a:schemeClr>
                </a:solidFill>
              </a:defRPr>
            </a:lvl1pPr>
          </a:lstStyle>
          <a:p>
            <a:endParaRPr lang="en-US"/>
          </a:p>
        </p:txBody>
      </p:sp>
      <p:sp>
        <p:nvSpPr>
          <p:cNvPr id="6" name="Slide Number Placeholder 5"/>
          <p:cNvSpPr>
            <a:spLocks noGrp="1"/>
          </p:cNvSpPr>
          <p:nvPr>
            <p:ph type="sldNum" sz="quarter" idx="4"/>
          </p:nvPr>
        </p:nvSpPr>
        <p:spPr>
          <a:xfrm>
            <a:off x="6287121" y="5757334"/>
            <a:ext cx="907186" cy="498470"/>
          </a:xfrm>
          <a:prstGeom prst="rect">
            <a:avLst/>
          </a:prstGeom>
        </p:spPr>
        <p:txBody>
          <a:bodyPr vert="horz" lIns="91440" tIns="45720" rIns="91440" bIns="45720" rtlCol="0" anchor="ctr"/>
          <a:lstStyle>
            <a:lvl1pPr algn="ctr">
              <a:defRPr sz="3200" cap="all" baseline="0">
                <a:solidFill>
                  <a:schemeClr val="accent1">
                    <a:lumMod val="50000"/>
                  </a:schemeClr>
                </a:solidFill>
              </a:defRPr>
            </a:lvl1pPr>
          </a:lstStyle>
          <a:p>
            <a:fld id="{6ECB8E56-343A-46AB-9333-D5E39BC3F310}" type="slidenum">
              <a:rPr lang="en-US" smtClean="0"/>
              <a:t>‹#›</a:t>
            </a:fld>
            <a:endParaRPr lang="en-US"/>
          </a:p>
        </p:txBody>
      </p:sp>
    </p:spTree>
    <p:extLst>
      <p:ext uri="{BB962C8B-B14F-4D97-AF65-F5344CB8AC3E}">
        <p14:creationId xmlns:p14="http://schemas.microsoft.com/office/powerpoint/2010/main" val="790698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hf sldNum="0" hdr="0" ftr="0"/>
  <p:txStyles>
    <p:titleStyle>
      <a:lvl1pPr algn="l" defTabSz="914400" rtl="0" eaLnBrk="1" latinLnBrk="0" hangingPunct="1">
        <a:lnSpc>
          <a:spcPct val="90000"/>
        </a:lnSpc>
        <a:spcBef>
          <a:spcPct val="0"/>
        </a:spcBef>
        <a:buNone/>
        <a:defRPr sz="5400" kern="1200" cap="all" baseline="0">
          <a:solidFill>
            <a:schemeClr val="accent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60000"/>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D5219C-A3DD-2861-5F88-A682D85EA54A}"/>
              </a:ext>
            </a:extLst>
          </p:cNvPr>
          <p:cNvSpPr>
            <a:spLocks noGrp="1"/>
          </p:cNvSpPr>
          <p:nvPr>
            <p:ph type="ctrTitle"/>
          </p:nvPr>
        </p:nvSpPr>
        <p:spPr>
          <a:xfrm rot="21420000">
            <a:off x="887925" y="537551"/>
            <a:ext cx="9755187" cy="2891719"/>
          </a:xfrm>
        </p:spPr>
        <p:txBody>
          <a:bodyPr>
            <a:normAutofit fontScale="90000"/>
          </a:bodyPr>
          <a:lstStyle/>
          <a:p>
            <a:pPr algn="ctr"/>
            <a:br>
              <a:rPr lang="en-US" sz="2400" b="1" dirty="0">
                <a:solidFill>
                  <a:schemeClr val="tx1"/>
                </a:solidFill>
              </a:rPr>
            </a:br>
            <a:r>
              <a:rPr lang="en-US" sz="2400" b="1" dirty="0"/>
              <a:t>PHISHING AWARENESS TRAINING</a:t>
            </a:r>
            <a:br>
              <a:rPr lang="en-US" sz="2400" b="1" dirty="0">
                <a:solidFill>
                  <a:schemeClr val="tx1"/>
                </a:solidFill>
              </a:rPr>
            </a:br>
            <a:br>
              <a:rPr lang="en-US" sz="2400" dirty="0">
                <a:solidFill>
                  <a:schemeClr val="tx1"/>
                </a:solidFill>
              </a:rPr>
            </a:br>
            <a:r>
              <a:rPr lang="en-US" sz="2400" b="1" dirty="0">
                <a:solidFill>
                  <a:schemeClr val="tx1"/>
                </a:solidFill>
              </a:rPr>
              <a:t>Understanding, Identifying, and Preventing Phishing Attacks</a:t>
            </a:r>
            <a:br>
              <a:rPr lang="en-US" sz="2400" dirty="0">
                <a:solidFill>
                  <a:schemeClr val="tx1"/>
                </a:solidFill>
              </a:rPr>
            </a:br>
            <a:br>
              <a:rPr lang="en-US" sz="2400" dirty="0">
                <a:solidFill>
                  <a:schemeClr val="tx1"/>
                </a:solidFill>
              </a:rPr>
            </a:br>
            <a:r>
              <a:rPr lang="en-US" sz="2400" b="1" dirty="0"/>
              <a:t>Title:</a:t>
            </a:r>
            <a:r>
              <a:rPr lang="en-US" sz="2400" dirty="0"/>
              <a:t> </a:t>
            </a:r>
            <a:r>
              <a:rPr lang="en-US" sz="2400" dirty="0">
                <a:solidFill>
                  <a:schemeClr val="tx1"/>
                </a:solidFill>
              </a:rPr>
              <a:t>Phishing Awareness Training</a:t>
            </a:r>
            <a:br>
              <a:rPr lang="en-US" sz="2400" dirty="0">
                <a:solidFill>
                  <a:schemeClr val="tx1"/>
                </a:solidFill>
              </a:rPr>
            </a:br>
            <a:br>
              <a:rPr lang="en-US" sz="2400" dirty="0">
                <a:solidFill>
                  <a:schemeClr val="tx1"/>
                </a:solidFill>
              </a:rPr>
            </a:br>
            <a:br>
              <a:rPr lang="en-US" sz="2400" dirty="0"/>
            </a:br>
            <a:r>
              <a:rPr lang="en-US" sz="2400" b="1" dirty="0"/>
              <a:t>Prepared by:</a:t>
            </a:r>
            <a:r>
              <a:rPr lang="en-US" sz="2400" dirty="0"/>
              <a:t> </a:t>
            </a:r>
            <a:r>
              <a:rPr lang="en-US" sz="2400" dirty="0">
                <a:solidFill>
                  <a:schemeClr val="tx1"/>
                </a:solidFill>
              </a:rPr>
              <a:t>Ubong Okon Solomon</a:t>
            </a:r>
            <a:br>
              <a:rPr lang="en-US" sz="2400" dirty="0"/>
            </a:br>
            <a:endParaRPr lang="en-US" sz="2400" dirty="0"/>
          </a:p>
        </p:txBody>
      </p:sp>
      <p:sp>
        <p:nvSpPr>
          <p:cNvPr id="3" name="Subtitle 2">
            <a:extLst>
              <a:ext uri="{FF2B5EF4-FFF2-40B4-BE49-F238E27FC236}">
                <a16:creationId xmlns:a16="http://schemas.microsoft.com/office/drawing/2014/main" id="{4A091C40-48E0-C21B-2D1B-4FECC41D3C6E}"/>
              </a:ext>
            </a:extLst>
          </p:cNvPr>
          <p:cNvSpPr>
            <a:spLocks noGrp="1"/>
          </p:cNvSpPr>
          <p:nvPr>
            <p:ph type="subTitle" idx="1"/>
          </p:nvPr>
        </p:nvSpPr>
        <p:spPr/>
        <p:txBody>
          <a:bodyPr/>
          <a:lstStyle/>
          <a:p>
            <a:r>
              <a:rPr lang="en-US" sz="2400" b="1" dirty="0">
                <a:solidFill>
                  <a:schemeClr val="accent1"/>
                </a:solidFill>
              </a:rPr>
              <a:t>Subtitle:</a:t>
            </a:r>
            <a:r>
              <a:rPr lang="en-US" sz="2400" dirty="0">
                <a:solidFill>
                  <a:schemeClr val="accent1"/>
                </a:solidFill>
              </a:rPr>
              <a:t> </a:t>
            </a:r>
            <a:r>
              <a:rPr lang="en-US" sz="2400" dirty="0">
                <a:solidFill>
                  <a:schemeClr val="tx1"/>
                </a:solidFill>
              </a:rPr>
              <a:t>Recognizing and Preventing Social Engineering Attacks</a:t>
            </a:r>
            <a:endParaRPr lang="en-US" sz="2400" dirty="0"/>
          </a:p>
        </p:txBody>
      </p:sp>
      <p:sp>
        <p:nvSpPr>
          <p:cNvPr id="4" name="Date Placeholder 3">
            <a:extLst>
              <a:ext uri="{FF2B5EF4-FFF2-40B4-BE49-F238E27FC236}">
                <a16:creationId xmlns:a16="http://schemas.microsoft.com/office/drawing/2014/main" id="{05F2FD92-190D-2409-2B83-83A06855BCF4}"/>
              </a:ext>
            </a:extLst>
          </p:cNvPr>
          <p:cNvSpPr>
            <a:spLocks noGrp="1"/>
          </p:cNvSpPr>
          <p:nvPr>
            <p:ph type="dt" sz="half" idx="10"/>
          </p:nvPr>
        </p:nvSpPr>
        <p:spPr/>
        <p:txBody>
          <a:bodyPr/>
          <a:lstStyle/>
          <a:p>
            <a:fld id="{1930F458-DEF1-40B9-ADD2-190824398BB5}" type="datetime1">
              <a:rPr lang="en-US" smtClean="0"/>
              <a:t>6/17/2026</a:t>
            </a:fld>
            <a:endParaRPr lang="en-US"/>
          </a:p>
        </p:txBody>
      </p:sp>
    </p:spTree>
    <p:extLst>
      <p:ext uri="{BB962C8B-B14F-4D97-AF65-F5344CB8AC3E}">
        <p14:creationId xmlns:p14="http://schemas.microsoft.com/office/powerpoint/2010/main" val="12083317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C7AD12-697E-77A0-F724-1C081ECB9836}"/>
              </a:ext>
            </a:extLst>
          </p:cNvPr>
          <p:cNvSpPr>
            <a:spLocks noGrp="1"/>
          </p:cNvSpPr>
          <p:nvPr>
            <p:ph type="title"/>
          </p:nvPr>
        </p:nvSpPr>
        <p:spPr/>
        <p:txBody>
          <a:bodyPr>
            <a:normAutofit fontScale="90000"/>
          </a:bodyPr>
          <a:lstStyle/>
          <a:p>
            <a:pPr algn="ctr"/>
            <a:r>
              <a:rPr lang="en-US" b="1" dirty="0"/>
              <a:t>WHAT IS PHISHING?</a:t>
            </a:r>
            <a:br>
              <a:rPr lang="en-US" dirty="0"/>
            </a:br>
            <a:endParaRPr lang="en-US" dirty="0"/>
          </a:p>
        </p:txBody>
      </p:sp>
      <p:sp>
        <p:nvSpPr>
          <p:cNvPr id="3" name="Content Placeholder 2">
            <a:extLst>
              <a:ext uri="{FF2B5EF4-FFF2-40B4-BE49-F238E27FC236}">
                <a16:creationId xmlns:a16="http://schemas.microsoft.com/office/drawing/2014/main" id="{1B9943F8-361F-ACED-135B-F2C3E05C14FF}"/>
              </a:ext>
            </a:extLst>
          </p:cNvPr>
          <p:cNvSpPr>
            <a:spLocks noGrp="1"/>
          </p:cNvSpPr>
          <p:nvPr>
            <p:ph sz="quarter" idx="13"/>
          </p:nvPr>
        </p:nvSpPr>
        <p:spPr>
          <a:xfrm>
            <a:off x="685800" y="1837766"/>
            <a:ext cx="10394707" cy="3536820"/>
          </a:xfrm>
        </p:spPr>
        <p:txBody>
          <a:bodyPr>
            <a:normAutofit fontScale="85000" lnSpcReduction="20000"/>
          </a:bodyPr>
          <a:lstStyle/>
          <a:p>
            <a:pPr marL="0" indent="0" algn="ctr">
              <a:buNone/>
            </a:pPr>
            <a:endParaRPr lang="en-US" sz="1900" dirty="0"/>
          </a:p>
          <a:p>
            <a:pPr marL="0" indent="0" algn="ctr">
              <a:buNone/>
            </a:pPr>
            <a:r>
              <a:rPr lang="en-US" sz="1900" dirty="0"/>
              <a:t>Phishing is a social engineering attack where attackers impersonate trusted organizations or individuals to trick victims into revealing sensitive information such as: usernames and passwords, bank details, TPs / MFA codes, Personal identity information etc. </a:t>
            </a:r>
          </a:p>
          <a:p>
            <a:pPr marL="0" indent="0" algn="just">
              <a:buNone/>
            </a:pPr>
            <a:r>
              <a:rPr lang="en-US" sz="1900" dirty="0"/>
              <a:t>📌 </a:t>
            </a:r>
            <a:r>
              <a:rPr lang="en-US" sz="1900" dirty="0">
                <a:solidFill>
                  <a:schemeClr val="accent1"/>
                </a:solidFill>
              </a:rPr>
              <a:t>Attackers usually use:</a:t>
            </a:r>
          </a:p>
          <a:p>
            <a:pPr lvl="0" algn="just"/>
            <a:r>
              <a:rPr lang="en-US" sz="1900" dirty="0">
                <a:solidFill>
                  <a:schemeClr val="accent1"/>
                </a:solidFill>
              </a:rPr>
              <a:t>Email Phishing: </a:t>
            </a:r>
            <a:r>
              <a:rPr lang="en-US" sz="1900" dirty="0"/>
              <a:t>Standard malicious links or spoofed login pages.</a:t>
            </a:r>
          </a:p>
          <a:p>
            <a:pPr lvl="0" algn="just"/>
            <a:r>
              <a:rPr lang="en-US" sz="1900" dirty="0">
                <a:solidFill>
                  <a:schemeClr val="accent1"/>
                </a:solidFill>
              </a:rPr>
              <a:t>Smishing: </a:t>
            </a:r>
            <a:r>
              <a:rPr lang="en-US" sz="1900" dirty="0"/>
              <a:t>Deceptive SMS text messages.</a:t>
            </a:r>
          </a:p>
          <a:p>
            <a:pPr lvl="0" algn="just"/>
            <a:r>
              <a:rPr lang="en-US" sz="1900" dirty="0">
                <a:solidFill>
                  <a:schemeClr val="accent1"/>
                </a:solidFill>
              </a:rPr>
              <a:t>Vishing</a:t>
            </a:r>
            <a:r>
              <a:rPr lang="en-US" sz="1900" b="1" dirty="0"/>
              <a:t>:</a:t>
            </a:r>
            <a:r>
              <a:rPr lang="en-US" sz="1900" dirty="0"/>
              <a:t> Voice phishing (e.g., impersonating bank or IT support over the phone).</a:t>
            </a:r>
          </a:p>
          <a:p>
            <a:pPr lvl="0" algn="just"/>
            <a:r>
              <a:rPr lang="en-US" sz="1900" dirty="0"/>
              <a:t> </a:t>
            </a:r>
            <a:r>
              <a:rPr lang="en-US" sz="1900" dirty="0">
                <a:solidFill>
                  <a:schemeClr val="accent1"/>
                </a:solidFill>
              </a:rPr>
              <a:t>Business Email Compromise (BEC): </a:t>
            </a:r>
            <a:r>
              <a:rPr lang="en-US" sz="1900" dirty="0"/>
              <a:t>Impersonating executives or vendors to divert wire transfers</a:t>
            </a:r>
          </a:p>
          <a:p>
            <a:pPr marL="0" indent="0" algn="just">
              <a:buNone/>
            </a:pPr>
            <a:r>
              <a:rPr lang="en-US" sz="1900" dirty="0">
                <a:solidFill>
                  <a:schemeClr val="accent1"/>
                </a:solidFill>
              </a:rPr>
              <a:t>Key Idea: </a:t>
            </a:r>
            <a:r>
              <a:rPr lang="en-US" sz="1900" dirty="0"/>
              <a:t>It targets </a:t>
            </a:r>
            <a:r>
              <a:rPr lang="en-US" sz="1900" i="1" dirty="0"/>
              <a:t>human psychology</a:t>
            </a:r>
            <a:r>
              <a:rPr lang="en-US" sz="1900" dirty="0"/>
              <a:t>, not systems.</a:t>
            </a:r>
          </a:p>
          <a:p>
            <a:endParaRPr lang="en-US" dirty="0"/>
          </a:p>
        </p:txBody>
      </p:sp>
      <p:sp>
        <p:nvSpPr>
          <p:cNvPr id="4" name="Date Placeholder 3">
            <a:extLst>
              <a:ext uri="{FF2B5EF4-FFF2-40B4-BE49-F238E27FC236}">
                <a16:creationId xmlns:a16="http://schemas.microsoft.com/office/drawing/2014/main" id="{7ED436D6-A8D5-0F9B-7E24-666A59DB3985}"/>
              </a:ext>
            </a:extLst>
          </p:cNvPr>
          <p:cNvSpPr>
            <a:spLocks noGrp="1"/>
          </p:cNvSpPr>
          <p:nvPr>
            <p:ph type="dt" sz="half" idx="10"/>
          </p:nvPr>
        </p:nvSpPr>
        <p:spPr/>
        <p:txBody>
          <a:bodyPr/>
          <a:lstStyle/>
          <a:p>
            <a:fld id="{C5FA9775-417A-4BE9-A7E3-CF87DC34A248}" type="datetime1">
              <a:rPr lang="en-US" smtClean="0"/>
              <a:t>6/17/2026</a:t>
            </a:fld>
            <a:endParaRPr lang="en-US"/>
          </a:p>
        </p:txBody>
      </p:sp>
    </p:spTree>
    <p:extLst>
      <p:ext uri="{BB962C8B-B14F-4D97-AF65-F5344CB8AC3E}">
        <p14:creationId xmlns:p14="http://schemas.microsoft.com/office/powerpoint/2010/main" val="6553237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31ABEA-338B-CDC4-571B-B3F1AACDC53F}"/>
              </a:ext>
            </a:extLst>
          </p:cNvPr>
          <p:cNvSpPr>
            <a:spLocks noGrp="1"/>
          </p:cNvSpPr>
          <p:nvPr>
            <p:ph type="title"/>
          </p:nvPr>
        </p:nvSpPr>
        <p:spPr>
          <a:xfrm>
            <a:off x="683625" y="911431"/>
            <a:ext cx="10396882" cy="1151965"/>
          </a:xfrm>
        </p:spPr>
        <p:txBody>
          <a:bodyPr>
            <a:normAutofit fontScale="90000"/>
          </a:bodyPr>
          <a:lstStyle/>
          <a:p>
            <a:pPr algn="ctr"/>
            <a:br>
              <a:rPr lang="en-US" sz="4000" b="1" dirty="0"/>
            </a:br>
            <a:r>
              <a:rPr lang="en-US" sz="4000" b="1" dirty="0"/>
              <a:t>HOW PHISHING WORKS </a:t>
            </a:r>
            <a:br>
              <a:rPr lang="en-US" dirty="0"/>
            </a:br>
            <a:endParaRPr lang="en-US" dirty="0"/>
          </a:p>
        </p:txBody>
      </p:sp>
      <p:sp>
        <p:nvSpPr>
          <p:cNvPr id="3" name="Content Placeholder 2">
            <a:extLst>
              <a:ext uri="{FF2B5EF4-FFF2-40B4-BE49-F238E27FC236}">
                <a16:creationId xmlns:a16="http://schemas.microsoft.com/office/drawing/2014/main" id="{F1729B30-420B-2725-593C-F894240ABC99}"/>
              </a:ext>
            </a:extLst>
          </p:cNvPr>
          <p:cNvSpPr>
            <a:spLocks noGrp="1"/>
          </p:cNvSpPr>
          <p:nvPr>
            <p:ph sz="quarter" idx="13"/>
          </p:nvPr>
        </p:nvSpPr>
        <p:spPr/>
        <p:txBody>
          <a:bodyPr>
            <a:normAutofit lnSpcReduction="10000"/>
          </a:bodyPr>
          <a:lstStyle/>
          <a:p>
            <a:pPr lvl="0"/>
            <a:endParaRPr lang="en-US" dirty="0"/>
          </a:p>
          <a:p>
            <a:pPr lvl="0"/>
            <a:r>
              <a:rPr lang="en-US" dirty="0"/>
              <a:t>Attacker creates fake page/email</a:t>
            </a:r>
          </a:p>
          <a:p>
            <a:pPr lvl="0"/>
            <a:r>
              <a:rPr lang="en-US" dirty="0"/>
              <a:t>Victim receives message (email/SMS/link)</a:t>
            </a:r>
          </a:p>
          <a:p>
            <a:pPr lvl="0"/>
            <a:r>
              <a:rPr lang="en-US" dirty="0"/>
              <a:t>Victim clicks link</a:t>
            </a:r>
          </a:p>
          <a:p>
            <a:pPr lvl="0"/>
            <a:r>
              <a:rPr lang="en-US" dirty="0"/>
              <a:t>Fake login page opens</a:t>
            </a:r>
          </a:p>
          <a:p>
            <a:pPr lvl="0"/>
            <a:r>
              <a:rPr lang="en-US" dirty="0"/>
              <a:t>Credentials are entered</a:t>
            </a:r>
          </a:p>
          <a:p>
            <a:pPr lvl="0"/>
            <a:r>
              <a:rPr lang="en-US" dirty="0"/>
              <a:t>Data is captured by attacker</a:t>
            </a:r>
          </a:p>
          <a:p>
            <a:endParaRPr lang="en-US" dirty="0"/>
          </a:p>
        </p:txBody>
      </p:sp>
      <p:sp>
        <p:nvSpPr>
          <p:cNvPr id="4" name="Date Placeholder 3">
            <a:extLst>
              <a:ext uri="{FF2B5EF4-FFF2-40B4-BE49-F238E27FC236}">
                <a16:creationId xmlns:a16="http://schemas.microsoft.com/office/drawing/2014/main" id="{34E2F1F8-0883-E00B-3886-1868F7FDFF0E}"/>
              </a:ext>
            </a:extLst>
          </p:cNvPr>
          <p:cNvSpPr>
            <a:spLocks noGrp="1"/>
          </p:cNvSpPr>
          <p:nvPr>
            <p:ph type="dt" sz="half" idx="10"/>
          </p:nvPr>
        </p:nvSpPr>
        <p:spPr/>
        <p:txBody>
          <a:bodyPr/>
          <a:lstStyle/>
          <a:p>
            <a:fld id="{DD3C8ACA-E7C7-475E-B12C-EDA6183BEFBA}" type="datetime1">
              <a:rPr lang="en-US" smtClean="0"/>
              <a:t>6/17/2026</a:t>
            </a:fld>
            <a:endParaRPr lang="en-US"/>
          </a:p>
        </p:txBody>
      </p:sp>
    </p:spTree>
    <p:extLst>
      <p:ext uri="{BB962C8B-B14F-4D97-AF65-F5344CB8AC3E}">
        <p14:creationId xmlns:p14="http://schemas.microsoft.com/office/powerpoint/2010/main" val="30716300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AEF1D03-2631-623D-F207-8B43CBA72182}"/>
              </a:ext>
            </a:extLst>
          </p:cNvPr>
          <p:cNvSpPr>
            <a:spLocks noGrp="1"/>
          </p:cNvSpPr>
          <p:nvPr>
            <p:ph sz="quarter" idx="13"/>
          </p:nvPr>
        </p:nvSpPr>
        <p:spPr>
          <a:xfrm>
            <a:off x="630141" y="997921"/>
            <a:ext cx="10394707" cy="3311189"/>
          </a:xfrm>
        </p:spPr>
        <p:txBody>
          <a:bodyPr/>
          <a:lstStyle/>
          <a:p>
            <a:pPr marL="0" indent="0" algn="ctr">
              <a:buNone/>
            </a:pPr>
            <a:r>
              <a:rPr lang="en-US" dirty="0"/>
              <a:t>Real world example of a phishing attack on a Facebook account in a controlled environments using the following tools:</a:t>
            </a:r>
          </a:p>
          <a:p>
            <a:pPr lvl="0"/>
            <a:r>
              <a:rPr lang="en-US" dirty="0">
                <a:solidFill>
                  <a:schemeClr val="accent1"/>
                </a:solidFill>
              </a:rPr>
              <a:t>Tool: </a:t>
            </a:r>
            <a:r>
              <a:rPr lang="en-US" dirty="0" err="1"/>
              <a:t>MedusaPhisher</a:t>
            </a:r>
            <a:r>
              <a:rPr lang="en-US" dirty="0"/>
              <a:t> / </a:t>
            </a:r>
            <a:r>
              <a:rPr lang="en-US" dirty="0" err="1"/>
              <a:t>Zphisher</a:t>
            </a:r>
            <a:r>
              <a:rPr lang="en-US" dirty="0"/>
              <a:t> </a:t>
            </a:r>
          </a:p>
          <a:p>
            <a:pPr lvl="0"/>
            <a:r>
              <a:rPr lang="en-US" dirty="0">
                <a:solidFill>
                  <a:schemeClr val="accent1"/>
                </a:solidFill>
              </a:rPr>
              <a:t>Platform: </a:t>
            </a:r>
            <a:r>
              <a:rPr lang="en-US" dirty="0"/>
              <a:t>Linux Environment </a:t>
            </a:r>
          </a:p>
          <a:p>
            <a:pPr lvl="0"/>
            <a:r>
              <a:rPr lang="en-US" dirty="0">
                <a:solidFill>
                  <a:schemeClr val="accent1"/>
                </a:solidFill>
              </a:rPr>
              <a:t>Target Simulation: </a:t>
            </a:r>
            <a:r>
              <a:rPr lang="en-US" dirty="0"/>
              <a:t>Facebook login page clone </a:t>
            </a:r>
          </a:p>
          <a:p>
            <a:pPr lvl="0"/>
            <a:r>
              <a:rPr lang="en-US" dirty="0">
                <a:solidFill>
                  <a:schemeClr val="accent1"/>
                </a:solidFill>
              </a:rPr>
              <a:t>Network: </a:t>
            </a:r>
            <a:r>
              <a:rPr lang="en-US" dirty="0"/>
              <a:t>Controlled lab setup </a:t>
            </a:r>
          </a:p>
          <a:p>
            <a:endParaRPr lang="en-US" b="1" dirty="0"/>
          </a:p>
        </p:txBody>
      </p:sp>
      <p:sp>
        <p:nvSpPr>
          <p:cNvPr id="4" name="Date Placeholder 3">
            <a:extLst>
              <a:ext uri="{FF2B5EF4-FFF2-40B4-BE49-F238E27FC236}">
                <a16:creationId xmlns:a16="http://schemas.microsoft.com/office/drawing/2014/main" id="{35BA606E-D5FB-3028-9799-19307D0B744A}"/>
              </a:ext>
            </a:extLst>
          </p:cNvPr>
          <p:cNvSpPr>
            <a:spLocks noGrp="1"/>
          </p:cNvSpPr>
          <p:nvPr>
            <p:ph type="dt" sz="half" idx="10"/>
          </p:nvPr>
        </p:nvSpPr>
        <p:spPr/>
        <p:txBody>
          <a:bodyPr/>
          <a:lstStyle/>
          <a:p>
            <a:fld id="{55FF7BCF-4A8B-42B6-B5D2-0B5E6BB71459}" type="datetime1">
              <a:rPr lang="en-US" smtClean="0"/>
              <a:t>6/17/2026</a:t>
            </a:fld>
            <a:endParaRPr lang="en-US"/>
          </a:p>
        </p:txBody>
      </p:sp>
    </p:spTree>
    <p:extLst>
      <p:ext uri="{BB962C8B-B14F-4D97-AF65-F5344CB8AC3E}">
        <p14:creationId xmlns:p14="http://schemas.microsoft.com/office/powerpoint/2010/main" val="20787086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A822CFB9-0E1A-91C3-31FC-F0289D5FD96C}"/>
              </a:ext>
            </a:extLst>
          </p:cNvPr>
          <p:cNvGrpSpPr/>
          <p:nvPr/>
        </p:nvGrpSpPr>
        <p:grpSpPr>
          <a:xfrm>
            <a:off x="3124200" y="551180"/>
            <a:ext cx="5765358" cy="4807999"/>
            <a:chOff x="0" y="0"/>
            <a:chExt cx="6013450" cy="5823586"/>
          </a:xfrm>
        </p:grpSpPr>
        <p:pic>
          <p:nvPicPr>
            <p:cNvPr id="3" name="Picture 2">
              <a:extLst>
                <a:ext uri="{FF2B5EF4-FFF2-40B4-BE49-F238E27FC236}">
                  <a16:creationId xmlns:a16="http://schemas.microsoft.com/office/drawing/2014/main" id="{1FE76BCB-C783-CC82-04C6-ECEC6894A830}"/>
                </a:ext>
              </a:extLst>
            </p:cNvPr>
            <p:cNvPicPr/>
            <p:nvPr/>
          </p:nvPicPr>
          <p:blipFill>
            <a:blip r:embed="rId2"/>
            <a:stretch>
              <a:fillRect/>
            </a:stretch>
          </p:blipFill>
          <p:spPr>
            <a:xfrm>
              <a:off x="69850" y="0"/>
              <a:ext cx="5943600" cy="2877185"/>
            </a:xfrm>
            <a:prstGeom prst="rect">
              <a:avLst/>
            </a:prstGeom>
          </p:spPr>
        </p:pic>
        <p:pic>
          <p:nvPicPr>
            <p:cNvPr id="4" name="Picture 3">
              <a:extLst>
                <a:ext uri="{FF2B5EF4-FFF2-40B4-BE49-F238E27FC236}">
                  <a16:creationId xmlns:a16="http://schemas.microsoft.com/office/drawing/2014/main" id="{2552559C-1E79-B4AB-3554-2DDC2EA5CDB0}"/>
                </a:ext>
              </a:extLst>
            </p:cNvPr>
            <p:cNvPicPr/>
            <p:nvPr/>
          </p:nvPicPr>
          <p:blipFill>
            <a:blip r:embed="rId3"/>
            <a:stretch>
              <a:fillRect/>
            </a:stretch>
          </p:blipFill>
          <p:spPr>
            <a:xfrm>
              <a:off x="0" y="2946401"/>
              <a:ext cx="5943599" cy="2877185"/>
            </a:xfrm>
            <a:prstGeom prst="rect">
              <a:avLst/>
            </a:prstGeom>
          </p:spPr>
        </p:pic>
      </p:grpSp>
      <p:sp>
        <p:nvSpPr>
          <p:cNvPr id="5" name="Date Placeholder 4">
            <a:extLst>
              <a:ext uri="{FF2B5EF4-FFF2-40B4-BE49-F238E27FC236}">
                <a16:creationId xmlns:a16="http://schemas.microsoft.com/office/drawing/2014/main" id="{D906A4C2-6053-ABD0-2591-803846A5054F}"/>
              </a:ext>
            </a:extLst>
          </p:cNvPr>
          <p:cNvSpPr>
            <a:spLocks noGrp="1"/>
          </p:cNvSpPr>
          <p:nvPr>
            <p:ph type="dt" sz="half" idx="10"/>
          </p:nvPr>
        </p:nvSpPr>
        <p:spPr/>
        <p:txBody>
          <a:bodyPr/>
          <a:lstStyle/>
          <a:p>
            <a:fld id="{BA8D1AC2-E775-4415-8163-65734C55CDE0}" type="datetime1">
              <a:rPr lang="en-US" smtClean="0"/>
              <a:t>6/17/2026</a:t>
            </a:fld>
            <a:endParaRPr lang="en-US"/>
          </a:p>
        </p:txBody>
      </p:sp>
    </p:spTree>
    <p:extLst>
      <p:ext uri="{BB962C8B-B14F-4D97-AF65-F5344CB8AC3E}">
        <p14:creationId xmlns:p14="http://schemas.microsoft.com/office/powerpoint/2010/main" val="23942608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63687DD-F691-C0C0-7C96-79761481BE1A}"/>
              </a:ext>
            </a:extLst>
          </p:cNvPr>
          <p:cNvPicPr/>
          <p:nvPr/>
        </p:nvPicPr>
        <p:blipFill>
          <a:blip r:embed="rId2"/>
          <a:stretch>
            <a:fillRect/>
          </a:stretch>
        </p:blipFill>
        <p:spPr>
          <a:xfrm>
            <a:off x="1907650" y="623459"/>
            <a:ext cx="7427181" cy="4783427"/>
          </a:xfrm>
          <a:prstGeom prst="rect">
            <a:avLst/>
          </a:prstGeom>
        </p:spPr>
      </p:pic>
      <p:sp>
        <p:nvSpPr>
          <p:cNvPr id="4" name="Date Placeholder 3">
            <a:extLst>
              <a:ext uri="{FF2B5EF4-FFF2-40B4-BE49-F238E27FC236}">
                <a16:creationId xmlns:a16="http://schemas.microsoft.com/office/drawing/2014/main" id="{09032CBB-EEF5-F910-917C-569855D82A27}"/>
              </a:ext>
            </a:extLst>
          </p:cNvPr>
          <p:cNvSpPr>
            <a:spLocks noGrp="1"/>
          </p:cNvSpPr>
          <p:nvPr>
            <p:ph type="dt" sz="half" idx="10"/>
          </p:nvPr>
        </p:nvSpPr>
        <p:spPr/>
        <p:txBody>
          <a:bodyPr/>
          <a:lstStyle/>
          <a:p>
            <a:fld id="{770C90CE-FA0B-4DF6-9E0D-86B77F933CB7}" type="datetime1">
              <a:rPr lang="en-US" smtClean="0"/>
              <a:t>6/17/2026</a:t>
            </a:fld>
            <a:endParaRPr lang="en-US"/>
          </a:p>
        </p:txBody>
      </p:sp>
    </p:spTree>
    <p:extLst>
      <p:ext uri="{BB962C8B-B14F-4D97-AF65-F5344CB8AC3E}">
        <p14:creationId xmlns:p14="http://schemas.microsoft.com/office/powerpoint/2010/main" val="33955250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DB09884-D376-3140-81C5-76AC1BA6D5B6}"/>
              </a:ext>
            </a:extLst>
          </p:cNvPr>
          <p:cNvPicPr/>
          <p:nvPr/>
        </p:nvPicPr>
        <p:blipFill>
          <a:blip r:embed="rId2"/>
          <a:stretch>
            <a:fillRect/>
          </a:stretch>
        </p:blipFill>
        <p:spPr>
          <a:xfrm>
            <a:off x="2154141" y="551815"/>
            <a:ext cx="6846736" cy="4886877"/>
          </a:xfrm>
          <a:prstGeom prst="rect">
            <a:avLst/>
          </a:prstGeom>
        </p:spPr>
      </p:pic>
      <p:sp>
        <p:nvSpPr>
          <p:cNvPr id="3" name="Date Placeholder 2">
            <a:extLst>
              <a:ext uri="{FF2B5EF4-FFF2-40B4-BE49-F238E27FC236}">
                <a16:creationId xmlns:a16="http://schemas.microsoft.com/office/drawing/2014/main" id="{D8C3A519-46B3-A111-C62E-726420759230}"/>
              </a:ext>
            </a:extLst>
          </p:cNvPr>
          <p:cNvSpPr>
            <a:spLocks noGrp="1"/>
          </p:cNvSpPr>
          <p:nvPr>
            <p:ph type="dt" sz="half" idx="10"/>
          </p:nvPr>
        </p:nvSpPr>
        <p:spPr/>
        <p:txBody>
          <a:bodyPr/>
          <a:lstStyle/>
          <a:p>
            <a:fld id="{6809B3B9-E727-4C9C-BEA1-47E46657C7B5}" type="datetime1">
              <a:rPr lang="en-US" smtClean="0"/>
              <a:t>6/17/2026</a:t>
            </a:fld>
            <a:endParaRPr lang="en-US"/>
          </a:p>
        </p:txBody>
      </p:sp>
    </p:spTree>
    <p:extLst>
      <p:ext uri="{BB962C8B-B14F-4D97-AF65-F5344CB8AC3E}">
        <p14:creationId xmlns:p14="http://schemas.microsoft.com/office/powerpoint/2010/main" val="35498151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5AE1767-8A9C-6D49-BAB4-0BA222213DBF}"/>
              </a:ext>
            </a:extLst>
          </p:cNvPr>
          <p:cNvSpPr>
            <a:spLocks noGrp="1"/>
          </p:cNvSpPr>
          <p:nvPr>
            <p:ph type="body" idx="1"/>
          </p:nvPr>
        </p:nvSpPr>
        <p:spPr>
          <a:xfrm>
            <a:off x="143123" y="500932"/>
            <a:ext cx="10937385" cy="4880949"/>
          </a:xfrm>
        </p:spPr>
        <p:txBody>
          <a:bodyPr>
            <a:normAutofit fontScale="92500" lnSpcReduction="10000"/>
          </a:bodyPr>
          <a:lstStyle/>
          <a:p>
            <a:pPr algn="just"/>
            <a:r>
              <a:rPr lang="en-US" dirty="0">
                <a:solidFill>
                  <a:schemeClr val="tx1"/>
                </a:solidFill>
              </a:rPr>
              <a:t>These screenshots were taken in a controlled personal laboratory environment to demonstrate how user credentials can be harvested when users interact with a fake login page, such as a cloned Facebook login interface with a malicious URL designed for phishing simulation purposes. This shows what a real-world phishing attack will look like. </a:t>
            </a:r>
          </a:p>
          <a:p>
            <a:pPr algn="just"/>
            <a:endParaRPr lang="en-US" dirty="0">
              <a:solidFill>
                <a:schemeClr val="tx1"/>
              </a:solidFill>
            </a:endParaRPr>
          </a:p>
          <a:p>
            <a:r>
              <a:rPr lang="en-US" dirty="0">
                <a:solidFill>
                  <a:schemeClr val="accent1"/>
                </a:solidFill>
              </a:rPr>
              <a:t>⚠️ Suspicious Indicators:</a:t>
            </a:r>
          </a:p>
          <a:p>
            <a:pPr marL="342900" lvl="0" indent="-342900">
              <a:buFont typeface="Arial" panose="020B0604020202020204" pitchFamily="34" charset="0"/>
              <a:buChar char="•"/>
            </a:pPr>
            <a:r>
              <a:rPr lang="en-US" dirty="0">
                <a:solidFill>
                  <a:schemeClr val="tx1"/>
                </a:solidFill>
              </a:rPr>
              <a:t>Urgency pressure</a:t>
            </a:r>
          </a:p>
          <a:p>
            <a:pPr marL="342900" lvl="0" indent="-342900">
              <a:buFont typeface="Arial" panose="020B0604020202020204" pitchFamily="34" charset="0"/>
              <a:buChar char="•"/>
            </a:pPr>
            <a:r>
              <a:rPr lang="en-US" dirty="0">
                <a:solidFill>
                  <a:schemeClr val="tx1"/>
                </a:solidFill>
              </a:rPr>
              <a:t>Fake link: facebook-security-login.com</a:t>
            </a:r>
          </a:p>
          <a:p>
            <a:pPr marL="342900" lvl="0" indent="-342900">
              <a:buFont typeface="Arial" panose="020B0604020202020204" pitchFamily="34" charset="0"/>
              <a:buChar char="•"/>
            </a:pPr>
            <a:r>
              <a:rPr lang="en-US" dirty="0">
                <a:solidFill>
                  <a:schemeClr val="tx1"/>
                </a:solidFill>
              </a:rPr>
              <a:t>Poor grammar or formatting</a:t>
            </a:r>
          </a:p>
          <a:p>
            <a:pPr marL="342900" lvl="0" indent="-342900">
              <a:buFont typeface="Arial" panose="020B0604020202020204" pitchFamily="34" charset="0"/>
              <a:buChar char="•"/>
            </a:pPr>
            <a:r>
              <a:rPr lang="en-US" dirty="0">
                <a:solidFill>
                  <a:schemeClr val="tx1"/>
                </a:solidFill>
              </a:rPr>
              <a:t>Unusual sender address</a:t>
            </a:r>
          </a:p>
          <a:p>
            <a:r>
              <a:rPr lang="en-US" dirty="0">
                <a:solidFill>
                  <a:schemeClr val="accent1"/>
                </a:solidFill>
              </a:rPr>
              <a:t>📌 What happens:</a:t>
            </a:r>
            <a:br>
              <a:rPr lang="en-US" dirty="0">
                <a:solidFill>
                  <a:schemeClr val="tx1"/>
                </a:solidFill>
              </a:rPr>
            </a:br>
            <a:r>
              <a:rPr lang="en-US" dirty="0">
                <a:solidFill>
                  <a:schemeClr val="tx1"/>
                </a:solidFill>
              </a:rPr>
              <a:t>User clicks → fake login page → credentials stolen</a:t>
            </a:r>
          </a:p>
          <a:p>
            <a:endParaRPr lang="en-US" dirty="0">
              <a:solidFill>
                <a:schemeClr val="tx1"/>
              </a:solidFill>
            </a:endParaRPr>
          </a:p>
        </p:txBody>
      </p:sp>
      <p:sp>
        <p:nvSpPr>
          <p:cNvPr id="4" name="Date Placeholder 3">
            <a:extLst>
              <a:ext uri="{FF2B5EF4-FFF2-40B4-BE49-F238E27FC236}">
                <a16:creationId xmlns:a16="http://schemas.microsoft.com/office/drawing/2014/main" id="{4E57E27D-F802-DC4C-83DF-638A5660ACDF}"/>
              </a:ext>
            </a:extLst>
          </p:cNvPr>
          <p:cNvSpPr>
            <a:spLocks noGrp="1"/>
          </p:cNvSpPr>
          <p:nvPr>
            <p:ph type="dt" sz="half" idx="10"/>
          </p:nvPr>
        </p:nvSpPr>
        <p:spPr/>
        <p:txBody>
          <a:bodyPr/>
          <a:lstStyle/>
          <a:p>
            <a:fld id="{53B7F8AD-86E5-441F-8BED-1D70ABBB0DB4}" type="datetime1">
              <a:rPr lang="en-US" smtClean="0"/>
              <a:t>6/17/2026</a:t>
            </a:fld>
            <a:endParaRPr lang="en-US"/>
          </a:p>
        </p:txBody>
      </p:sp>
    </p:spTree>
    <p:extLst>
      <p:ext uri="{BB962C8B-B14F-4D97-AF65-F5344CB8AC3E}">
        <p14:creationId xmlns:p14="http://schemas.microsoft.com/office/powerpoint/2010/main" val="29195122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28A5CD-8317-F225-4214-AF297CA55766}"/>
              </a:ext>
            </a:extLst>
          </p:cNvPr>
          <p:cNvSpPr>
            <a:spLocks noGrp="1"/>
          </p:cNvSpPr>
          <p:nvPr>
            <p:ph type="title"/>
          </p:nvPr>
        </p:nvSpPr>
        <p:spPr/>
        <p:txBody>
          <a:bodyPr>
            <a:normAutofit fontScale="90000"/>
          </a:bodyPr>
          <a:lstStyle/>
          <a:p>
            <a:pPr algn="ctr"/>
            <a:br>
              <a:rPr lang="en-US" sz="3600" b="1" dirty="0"/>
            </a:br>
            <a:r>
              <a:rPr lang="en-US" sz="3600" b="1" dirty="0"/>
              <a:t>SOCIAL ENGINEERING TECHNIQUES</a:t>
            </a:r>
            <a:br>
              <a:rPr lang="en-US" dirty="0"/>
            </a:br>
            <a:endParaRPr lang="en-US" dirty="0"/>
          </a:p>
        </p:txBody>
      </p:sp>
      <p:sp>
        <p:nvSpPr>
          <p:cNvPr id="3" name="Content Placeholder 2">
            <a:extLst>
              <a:ext uri="{FF2B5EF4-FFF2-40B4-BE49-F238E27FC236}">
                <a16:creationId xmlns:a16="http://schemas.microsoft.com/office/drawing/2014/main" id="{6EB85B1F-DE89-BD39-0D89-3202101C316B}"/>
              </a:ext>
            </a:extLst>
          </p:cNvPr>
          <p:cNvSpPr>
            <a:spLocks noGrp="1"/>
          </p:cNvSpPr>
          <p:nvPr>
            <p:ph sz="quarter" idx="13"/>
          </p:nvPr>
        </p:nvSpPr>
        <p:spPr/>
        <p:txBody>
          <a:bodyPr>
            <a:normAutofit fontScale="92500" lnSpcReduction="20000"/>
          </a:bodyPr>
          <a:lstStyle/>
          <a:p>
            <a:pPr marL="0" indent="0">
              <a:buNone/>
            </a:pPr>
            <a:endParaRPr lang="en-US" dirty="0"/>
          </a:p>
          <a:p>
            <a:pPr marL="0" indent="0">
              <a:buNone/>
            </a:pPr>
            <a:r>
              <a:rPr lang="en-US" dirty="0"/>
              <a:t>Attackers manipulate human behavior using:</a:t>
            </a:r>
          </a:p>
          <a:p>
            <a:pPr lvl="0"/>
            <a:r>
              <a:rPr lang="en-US" dirty="0">
                <a:solidFill>
                  <a:schemeClr val="accent1"/>
                </a:solidFill>
              </a:rPr>
              <a:t>Urgency: </a:t>
            </a:r>
            <a:r>
              <a:rPr lang="en-US" dirty="0"/>
              <a:t>“Act now or account will be suspended”</a:t>
            </a:r>
          </a:p>
          <a:p>
            <a:pPr lvl="0"/>
            <a:r>
              <a:rPr lang="en-US" dirty="0">
                <a:solidFill>
                  <a:schemeClr val="accent1"/>
                </a:solidFill>
              </a:rPr>
              <a:t>Authority: </a:t>
            </a:r>
            <a:r>
              <a:rPr lang="en-US" dirty="0"/>
              <a:t>Pretending to be bank/IT admin</a:t>
            </a:r>
          </a:p>
          <a:p>
            <a:pPr lvl="0"/>
            <a:r>
              <a:rPr lang="en-US" dirty="0">
                <a:solidFill>
                  <a:schemeClr val="accent1"/>
                </a:solidFill>
              </a:rPr>
              <a:t>Fear: </a:t>
            </a:r>
            <a:r>
              <a:rPr lang="en-US" dirty="0"/>
              <a:t>“Unauthorized login detected”</a:t>
            </a:r>
          </a:p>
          <a:p>
            <a:pPr lvl="0"/>
            <a:r>
              <a:rPr lang="en-US" dirty="0">
                <a:solidFill>
                  <a:schemeClr val="accent1"/>
                </a:solidFill>
              </a:rPr>
              <a:t>Curiosity: </a:t>
            </a:r>
            <a:r>
              <a:rPr lang="en-US" dirty="0"/>
              <a:t>“See who viewed your profile”</a:t>
            </a:r>
          </a:p>
          <a:p>
            <a:pPr lvl="0"/>
            <a:r>
              <a:rPr lang="en-US" dirty="0">
                <a:solidFill>
                  <a:schemeClr val="accent1"/>
                </a:solidFill>
              </a:rPr>
              <a:t>Reward: </a:t>
            </a:r>
            <a:r>
              <a:rPr lang="en-US" dirty="0"/>
              <a:t>“You’ve won a prize”</a:t>
            </a:r>
          </a:p>
          <a:p>
            <a:pPr marL="0" indent="0">
              <a:buNone/>
            </a:pPr>
            <a:r>
              <a:rPr lang="en-US" dirty="0"/>
              <a:t>📌 </a:t>
            </a:r>
            <a:r>
              <a:rPr lang="en-US" dirty="0">
                <a:solidFill>
                  <a:schemeClr val="accent1"/>
                </a:solidFill>
              </a:rPr>
              <a:t>Core principle: </a:t>
            </a:r>
            <a:r>
              <a:rPr lang="en-US" i="1" dirty="0"/>
              <a:t>Emotional manipulation over technical hacking</a:t>
            </a:r>
            <a:endParaRPr lang="en-US" dirty="0"/>
          </a:p>
          <a:p>
            <a:pPr marL="0" indent="0">
              <a:buNone/>
            </a:pPr>
            <a:endParaRPr lang="en-US" dirty="0"/>
          </a:p>
        </p:txBody>
      </p:sp>
      <p:sp>
        <p:nvSpPr>
          <p:cNvPr id="4" name="Date Placeholder 3">
            <a:extLst>
              <a:ext uri="{FF2B5EF4-FFF2-40B4-BE49-F238E27FC236}">
                <a16:creationId xmlns:a16="http://schemas.microsoft.com/office/drawing/2014/main" id="{C63B3C09-7EA2-1AE4-CA91-4629583798A7}"/>
              </a:ext>
            </a:extLst>
          </p:cNvPr>
          <p:cNvSpPr>
            <a:spLocks noGrp="1"/>
          </p:cNvSpPr>
          <p:nvPr>
            <p:ph type="dt" sz="half" idx="10"/>
          </p:nvPr>
        </p:nvSpPr>
        <p:spPr/>
        <p:txBody>
          <a:bodyPr/>
          <a:lstStyle/>
          <a:p>
            <a:fld id="{E2A1C5B5-00A2-408F-80D9-6C06C71B8BE4}" type="datetime1">
              <a:rPr lang="en-US" smtClean="0"/>
              <a:t>6/17/2026</a:t>
            </a:fld>
            <a:endParaRPr lang="en-US"/>
          </a:p>
        </p:txBody>
      </p:sp>
    </p:spTree>
    <p:extLst>
      <p:ext uri="{BB962C8B-B14F-4D97-AF65-F5344CB8AC3E}">
        <p14:creationId xmlns:p14="http://schemas.microsoft.com/office/powerpoint/2010/main" val="41170858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2EC912-9C8A-5C71-6A04-4A0D5BB70105}"/>
              </a:ext>
            </a:extLst>
          </p:cNvPr>
          <p:cNvSpPr>
            <a:spLocks noGrp="1"/>
          </p:cNvSpPr>
          <p:nvPr>
            <p:ph type="title"/>
          </p:nvPr>
        </p:nvSpPr>
        <p:spPr/>
        <p:txBody>
          <a:bodyPr>
            <a:normAutofit fontScale="90000"/>
          </a:bodyPr>
          <a:lstStyle/>
          <a:p>
            <a:pPr algn="ctr"/>
            <a:br>
              <a:rPr lang="en-US" sz="3600" b="1" dirty="0"/>
            </a:br>
            <a:r>
              <a:rPr lang="en-US" sz="3600" b="1" dirty="0"/>
              <a:t>HOW TO IDENTIFY PHISHING EMAILS</a:t>
            </a:r>
            <a:br>
              <a:rPr lang="en-US" dirty="0"/>
            </a:br>
            <a:endParaRPr lang="en-US" dirty="0"/>
          </a:p>
        </p:txBody>
      </p:sp>
      <p:sp>
        <p:nvSpPr>
          <p:cNvPr id="3" name="Content Placeholder 2">
            <a:extLst>
              <a:ext uri="{FF2B5EF4-FFF2-40B4-BE49-F238E27FC236}">
                <a16:creationId xmlns:a16="http://schemas.microsoft.com/office/drawing/2014/main" id="{EB2BCDED-EC3A-EABE-AB69-C9E0CBBB3823}"/>
              </a:ext>
            </a:extLst>
          </p:cNvPr>
          <p:cNvSpPr>
            <a:spLocks noGrp="1"/>
          </p:cNvSpPr>
          <p:nvPr>
            <p:ph sz="quarter" idx="13"/>
          </p:nvPr>
        </p:nvSpPr>
        <p:spPr/>
        <p:txBody>
          <a:bodyPr>
            <a:normAutofit fontScale="77500" lnSpcReduction="20000"/>
          </a:bodyPr>
          <a:lstStyle/>
          <a:p>
            <a:pPr marL="0" indent="0">
              <a:buNone/>
            </a:pPr>
            <a:r>
              <a:rPr lang="en-US" dirty="0"/>
              <a:t>Attackers rely on deception to make their malicious platforms look identical to legitimate ones. Here is how you can spot the fakes. </a:t>
            </a:r>
          </a:p>
          <a:p>
            <a:pPr marL="0" indent="0">
              <a:buNone/>
            </a:pPr>
            <a:r>
              <a:rPr lang="en-US" dirty="0">
                <a:solidFill>
                  <a:schemeClr val="accent1"/>
                </a:solidFill>
              </a:rPr>
              <a:t>Warning Signs in Emails:</a:t>
            </a:r>
          </a:p>
          <a:p>
            <a:pPr lvl="0"/>
            <a:r>
              <a:rPr lang="en-US" dirty="0">
                <a:solidFill>
                  <a:schemeClr val="accent1"/>
                </a:solidFill>
              </a:rPr>
              <a:t>Mismatched Domains: </a:t>
            </a:r>
            <a:r>
              <a:rPr lang="en-US" dirty="0"/>
              <a:t>The display name says "Google Support" but the actual email address is support@google-security-update.com. Always check the sender's full address.</a:t>
            </a:r>
          </a:p>
          <a:p>
            <a:pPr lvl="0"/>
            <a:r>
              <a:rPr lang="en-US" dirty="0">
                <a:solidFill>
                  <a:schemeClr val="accent1"/>
                </a:solidFill>
              </a:rPr>
              <a:t>Grammar and Spelling: </a:t>
            </a:r>
            <a:r>
              <a:rPr lang="en-US" dirty="0"/>
              <a:t>Poorly written content, erratic capitalization, and strange phrasing are huge red flags.</a:t>
            </a:r>
          </a:p>
          <a:p>
            <a:pPr lvl="0"/>
            <a:r>
              <a:rPr lang="en-US" dirty="0">
                <a:solidFill>
                  <a:schemeClr val="accent1"/>
                </a:solidFill>
              </a:rPr>
              <a:t>Suspicious Attachments: </a:t>
            </a:r>
            <a:r>
              <a:rPr lang="en-US" dirty="0"/>
              <a:t>Unexpected files—especially .exe, .zip, or even macro-enabled .docx files—should never be opened. </a:t>
            </a:r>
          </a:p>
          <a:p>
            <a:pPr marL="0" indent="0">
              <a:buNone/>
            </a:pPr>
            <a:r>
              <a:rPr lang="en-US" dirty="0">
                <a:solidFill>
                  <a:schemeClr val="accent1"/>
                </a:solidFill>
              </a:rPr>
              <a:t>📌 Tip:</a:t>
            </a:r>
            <a:br>
              <a:rPr lang="en-US" dirty="0"/>
            </a:br>
            <a:r>
              <a:rPr lang="en-US" i="1" dirty="0"/>
              <a:t>Always verify sender identity independently</a:t>
            </a:r>
          </a:p>
          <a:p>
            <a:endParaRPr lang="en-US" dirty="0"/>
          </a:p>
        </p:txBody>
      </p:sp>
      <p:sp>
        <p:nvSpPr>
          <p:cNvPr id="4" name="Date Placeholder 3">
            <a:extLst>
              <a:ext uri="{FF2B5EF4-FFF2-40B4-BE49-F238E27FC236}">
                <a16:creationId xmlns:a16="http://schemas.microsoft.com/office/drawing/2014/main" id="{4F55DD71-4542-58ED-1EF0-43ED3EF85C7D}"/>
              </a:ext>
            </a:extLst>
          </p:cNvPr>
          <p:cNvSpPr>
            <a:spLocks noGrp="1"/>
          </p:cNvSpPr>
          <p:nvPr>
            <p:ph type="dt" sz="half" idx="10"/>
          </p:nvPr>
        </p:nvSpPr>
        <p:spPr/>
        <p:txBody>
          <a:bodyPr/>
          <a:lstStyle/>
          <a:p>
            <a:fld id="{8031DEBD-F5C4-4C2A-B809-6F6555D0C93D}" type="datetime1">
              <a:rPr lang="en-US" smtClean="0"/>
              <a:t>6/17/2026</a:t>
            </a:fld>
            <a:endParaRPr lang="en-US"/>
          </a:p>
        </p:txBody>
      </p:sp>
    </p:spTree>
    <p:extLst>
      <p:ext uri="{BB962C8B-B14F-4D97-AF65-F5344CB8AC3E}">
        <p14:creationId xmlns:p14="http://schemas.microsoft.com/office/powerpoint/2010/main" val="36351610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ED55BE-A676-C2D1-5DDF-517E5F305F3C}"/>
              </a:ext>
            </a:extLst>
          </p:cNvPr>
          <p:cNvSpPr>
            <a:spLocks noGrp="1"/>
          </p:cNvSpPr>
          <p:nvPr>
            <p:ph type="title"/>
          </p:nvPr>
        </p:nvSpPr>
        <p:spPr/>
        <p:txBody>
          <a:bodyPr>
            <a:normAutofit fontScale="90000"/>
          </a:bodyPr>
          <a:lstStyle/>
          <a:p>
            <a:pPr algn="ctr"/>
            <a:br>
              <a:rPr lang="en-US" sz="3600" b="1" dirty="0"/>
            </a:br>
            <a:r>
              <a:rPr lang="en-US" sz="3600" b="1" dirty="0"/>
              <a:t>HOW TO DETECT FAKE WEBSITES</a:t>
            </a:r>
            <a:br>
              <a:rPr lang="en-US" dirty="0"/>
            </a:br>
            <a:endParaRPr lang="en-US" dirty="0"/>
          </a:p>
        </p:txBody>
      </p:sp>
      <p:sp>
        <p:nvSpPr>
          <p:cNvPr id="3" name="Content Placeholder 2">
            <a:extLst>
              <a:ext uri="{FF2B5EF4-FFF2-40B4-BE49-F238E27FC236}">
                <a16:creationId xmlns:a16="http://schemas.microsoft.com/office/drawing/2014/main" id="{788F048D-E9B7-D861-A4C9-E48B01FA0BF1}"/>
              </a:ext>
            </a:extLst>
          </p:cNvPr>
          <p:cNvSpPr>
            <a:spLocks noGrp="1"/>
          </p:cNvSpPr>
          <p:nvPr>
            <p:ph sz="quarter" idx="13"/>
          </p:nvPr>
        </p:nvSpPr>
        <p:spPr/>
        <p:txBody>
          <a:bodyPr>
            <a:normAutofit fontScale="70000" lnSpcReduction="20000"/>
          </a:bodyPr>
          <a:lstStyle/>
          <a:p>
            <a:pPr marL="0" indent="0">
              <a:buNone/>
            </a:pPr>
            <a:r>
              <a:rPr lang="en-US" dirty="0">
                <a:solidFill>
                  <a:schemeClr val="accent1"/>
                </a:solidFill>
              </a:rPr>
              <a:t>Look for:</a:t>
            </a:r>
          </a:p>
          <a:p>
            <a:pPr lvl="0"/>
            <a:r>
              <a:rPr lang="en-US" dirty="0"/>
              <a:t>HTTP instead of HTTPS</a:t>
            </a:r>
          </a:p>
          <a:p>
            <a:pPr lvl="0"/>
            <a:r>
              <a:rPr lang="en-US" dirty="0"/>
              <a:t>Misspelled domain names</a:t>
            </a:r>
          </a:p>
          <a:p>
            <a:pPr lvl="1"/>
            <a:r>
              <a:rPr lang="en-US" dirty="0"/>
              <a:t>faceb00k.com ❌</a:t>
            </a:r>
          </a:p>
          <a:p>
            <a:pPr lvl="1"/>
            <a:r>
              <a:rPr lang="en-US" dirty="0"/>
              <a:t>facebook.com ✔</a:t>
            </a:r>
          </a:p>
          <a:p>
            <a:pPr lvl="0"/>
            <a:r>
              <a:rPr lang="en-US" dirty="0"/>
              <a:t>Poor UI design or broken layout</a:t>
            </a:r>
          </a:p>
          <a:p>
            <a:pPr lvl="0"/>
            <a:r>
              <a:rPr lang="en-US" dirty="0"/>
              <a:t>No valid security certificate</a:t>
            </a:r>
          </a:p>
          <a:p>
            <a:pPr lvl="0"/>
            <a:r>
              <a:rPr lang="en-US" dirty="0"/>
              <a:t>Login page appearing outside official domain</a:t>
            </a:r>
          </a:p>
          <a:p>
            <a:pPr marL="0" indent="0">
              <a:buNone/>
            </a:pPr>
            <a:r>
              <a:rPr lang="en-US" dirty="0">
                <a:solidFill>
                  <a:schemeClr val="accent1"/>
                </a:solidFill>
              </a:rPr>
              <a:t>📌 Best Practice:</a:t>
            </a:r>
            <a:br>
              <a:rPr lang="en-US" dirty="0"/>
            </a:br>
            <a:r>
              <a:rPr lang="en-US" i="1" dirty="0"/>
              <a:t>Always type URL manually instead of clicking links</a:t>
            </a:r>
          </a:p>
          <a:p>
            <a:endParaRPr lang="en-US" dirty="0"/>
          </a:p>
        </p:txBody>
      </p:sp>
      <p:sp>
        <p:nvSpPr>
          <p:cNvPr id="4" name="Date Placeholder 3">
            <a:extLst>
              <a:ext uri="{FF2B5EF4-FFF2-40B4-BE49-F238E27FC236}">
                <a16:creationId xmlns:a16="http://schemas.microsoft.com/office/drawing/2014/main" id="{793C1ECB-3C72-ECF5-7BF4-FD100BEF014A}"/>
              </a:ext>
            </a:extLst>
          </p:cNvPr>
          <p:cNvSpPr>
            <a:spLocks noGrp="1"/>
          </p:cNvSpPr>
          <p:nvPr>
            <p:ph type="dt" sz="half" idx="10"/>
          </p:nvPr>
        </p:nvSpPr>
        <p:spPr/>
        <p:txBody>
          <a:bodyPr/>
          <a:lstStyle/>
          <a:p>
            <a:fld id="{A26E0DC1-596D-4AF2-B7AF-3B7826F09BC9}" type="datetime1">
              <a:rPr lang="en-US" smtClean="0"/>
              <a:t>6/17/2026</a:t>
            </a:fld>
            <a:endParaRPr lang="en-US"/>
          </a:p>
        </p:txBody>
      </p:sp>
    </p:spTree>
    <p:extLst>
      <p:ext uri="{BB962C8B-B14F-4D97-AF65-F5344CB8AC3E}">
        <p14:creationId xmlns:p14="http://schemas.microsoft.com/office/powerpoint/2010/main" val="40951356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6655D1-9C67-48C1-AD55-5755BF2CE979}"/>
              </a:ext>
            </a:extLst>
          </p:cNvPr>
          <p:cNvSpPr>
            <a:spLocks noGrp="1"/>
          </p:cNvSpPr>
          <p:nvPr>
            <p:ph type="title"/>
          </p:nvPr>
        </p:nvSpPr>
        <p:spPr/>
        <p:txBody>
          <a:bodyPr>
            <a:normAutofit fontScale="90000"/>
          </a:bodyPr>
          <a:lstStyle/>
          <a:p>
            <a:pPr algn="ctr"/>
            <a:br>
              <a:rPr lang="en-US" sz="3600" b="1" dirty="0"/>
            </a:br>
            <a:r>
              <a:rPr lang="en-US" sz="3600" b="1" dirty="0"/>
              <a:t>BEST PRACTICES TO STAY SAFE</a:t>
            </a:r>
            <a:br>
              <a:rPr lang="en-US" dirty="0"/>
            </a:br>
            <a:endParaRPr lang="en-US" dirty="0"/>
          </a:p>
        </p:txBody>
      </p:sp>
      <p:sp>
        <p:nvSpPr>
          <p:cNvPr id="3" name="Content Placeholder 2">
            <a:extLst>
              <a:ext uri="{FF2B5EF4-FFF2-40B4-BE49-F238E27FC236}">
                <a16:creationId xmlns:a16="http://schemas.microsoft.com/office/drawing/2014/main" id="{C255D826-4684-D878-5928-6215B2F771D0}"/>
              </a:ext>
            </a:extLst>
          </p:cNvPr>
          <p:cNvSpPr>
            <a:spLocks noGrp="1"/>
          </p:cNvSpPr>
          <p:nvPr>
            <p:ph sz="quarter" idx="13"/>
          </p:nvPr>
        </p:nvSpPr>
        <p:spPr/>
        <p:txBody>
          <a:bodyPr>
            <a:normAutofit fontScale="55000" lnSpcReduction="20000"/>
          </a:bodyPr>
          <a:lstStyle/>
          <a:p>
            <a:pPr marL="0" indent="0">
              <a:buNone/>
            </a:pPr>
            <a:r>
              <a:rPr lang="en-US" dirty="0"/>
              <a:t>Building a strong security culture comes down to a few fundamental habits: </a:t>
            </a:r>
          </a:p>
          <a:p>
            <a:pPr lvl="0"/>
            <a:r>
              <a:rPr lang="en-US" dirty="0">
                <a:solidFill>
                  <a:schemeClr val="accent1"/>
                </a:solidFill>
              </a:rPr>
              <a:t>Verify Before Acting</a:t>
            </a:r>
            <a:r>
              <a:rPr lang="en-US" b="1" dirty="0"/>
              <a:t>:</a:t>
            </a:r>
            <a:r>
              <a:rPr lang="en-US" dirty="0"/>
              <a:t> Never click links or download attachments from unexpected messages. If it seems official, contact the organization directly using a trusted channel (e.g., calling an official phone number or navigating to their website manually). </a:t>
            </a:r>
          </a:p>
          <a:p>
            <a:pPr lvl="0"/>
            <a:r>
              <a:rPr lang="en-US" dirty="0">
                <a:solidFill>
                  <a:schemeClr val="accent1"/>
                </a:solidFill>
              </a:rPr>
              <a:t>Never Share Credentials: </a:t>
            </a:r>
            <a:r>
              <a:rPr lang="en-US" dirty="0"/>
              <a:t>Legitimate companies will never email or text you asking for your password or Multi-Factor Authentication (MFA) codes. </a:t>
            </a:r>
          </a:p>
          <a:p>
            <a:pPr lvl="0"/>
            <a:r>
              <a:rPr lang="en-US" dirty="0">
                <a:solidFill>
                  <a:schemeClr val="accent1"/>
                </a:solidFill>
              </a:rPr>
              <a:t>Enable MFA: </a:t>
            </a:r>
            <a:r>
              <a:rPr lang="en-US" dirty="0"/>
              <a:t>Always use </a:t>
            </a:r>
            <a:r>
              <a:rPr lang="en-US" b="1" dirty="0"/>
              <a:t>Multi-Factor Authentication</a:t>
            </a:r>
            <a:r>
              <a:rPr lang="en-US" dirty="0"/>
              <a:t> wherever available to add a layer of security. </a:t>
            </a:r>
          </a:p>
          <a:p>
            <a:pPr lvl="0"/>
            <a:r>
              <a:rPr lang="en-US" dirty="0">
                <a:solidFill>
                  <a:schemeClr val="accent1"/>
                </a:solidFill>
              </a:rPr>
              <a:t>Use strong, unique passwords</a:t>
            </a:r>
            <a:br>
              <a:rPr lang="en-US" dirty="0"/>
            </a:br>
            <a:r>
              <a:rPr lang="en-US" dirty="0"/>
              <a:t>Create complex passwords for each account to prevent attackers from accessing multiple services if one password is compromised.</a:t>
            </a:r>
          </a:p>
          <a:p>
            <a:pPr lvl="0"/>
            <a:r>
              <a:rPr lang="en-US" dirty="0">
                <a:solidFill>
                  <a:schemeClr val="accent1"/>
                </a:solidFill>
              </a:rPr>
              <a:t>Keep software and browsers updated</a:t>
            </a:r>
            <a:br>
              <a:rPr lang="en-US" dirty="0"/>
            </a:br>
            <a:r>
              <a:rPr lang="en-US" dirty="0"/>
              <a:t>Regular updates patch security vulnerabilities, reducing exposure to malware, phishing exploits, and browser-based attacks from cybercriminals.</a:t>
            </a:r>
          </a:p>
          <a:p>
            <a:r>
              <a:rPr lang="en-US" dirty="0">
                <a:solidFill>
                  <a:schemeClr val="accent1"/>
                </a:solidFill>
              </a:rPr>
              <a:t>Use anti-phishing browser protection</a:t>
            </a:r>
            <a:br>
              <a:rPr lang="en-US" dirty="0"/>
            </a:br>
            <a:r>
              <a:rPr lang="en-US" dirty="0"/>
              <a:t>Enable built-in browser security tools that detect and block malicious websites and warn users about suspected phishing attempts</a:t>
            </a:r>
          </a:p>
        </p:txBody>
      </p:sp>
      <p:sp>
        <p:nvSpPr>
          <p:cNvPr id="4" name="Date Placeholder 3">
            <a:extLst>
              <a:ext uri="{FF2B5EF4-FFF2-40B4-BE49-F238E27FC236}">
                <a16:creationId xmlns:a16="http://schemas.microsoft.com/office/drawing/2014/main" id="{CE4484B1-D90C-75C8-D0DB-BFC5E62C02C6}"/>
              </a:ext>
            </a:extLst>
          </p:cNvPr>
          <p:cNvSpPr>
            <a:spLocks noGrp="1"/>
          </p:cNvSpPr>
          <p:nvPr>
            <p:ph type="dt" sz="half" idx="10"/>
          </p:nvPr>
        </p:nvSpPr>
        <p:spPr/>
        <p:txBody>
          <a:bodyPr/>
          <a:lstStyle/>
          <a:p>
            <a:fld id="{20BDAE59-EFFE-4900-9413-1DE2828DEBE1}" type="datetime1">
              <a:rPr lang="en-US" smtClean="0"/>
              <a:t>6/17/2026</a:t>
            </a:fld>
            <a:endParaRPr lang="en-US"/>
          </a:p>
        </p:txBody>
      </p:sp>
    </p:spTree>
    <p:extLst>
      <p:ext uri="{BB962C8B-B14F-4D97-AF65-F5344CB8AC3E}">
        <p14:creationId xmlns:p14="http://schemas.microsoft.com/office/powerpoint/2010/main" val="19646176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79742-56A0-5AB2-D83D-282607B31F16}"/>
              </a:ext>
            </a:extLst>
          </p:cNvPr>
          <p:cNvSpPr>
            <a:spLocks noGrp="1"/>
          </p:cNvSpPr>
          <p:nvPr>
            <p:ph type="title"/>
          </p:nvPr>
        </p:nvSpPr>
        <p:spPr/>
        <p:txBody>
          <a:bodyPr>
            <a:normAutofit fontScale="90000"/>
          </a:bodyPr>
          <a:lstStyle/>
          <a:p>
            <a:pPr algn="ctr"/>
            <a:br>
              <a:rPr lang="en-US" sz="3600" b="1" dirty="0"/>
            </a:br>
            <a:r>
              <a:rPr lang="en-US" sz="3600" b="1" dirty="0"/>
              <a:t>INTERACTIVE QUIZ</a:t>
            </a:r>
            <a:br>
              <a:rPr lang="en-US" dirty="0"/>
            </a:br>
            <a:endParaRPr lang="en-US" dirty="0"/>
          </a:p>
        </p:txBody>
      </p:sp>
      <p:sp>
        <p:nvSpPr>
          <p:cNvPr id="3" name="Content Placeholder 2">
            <a:extLst>
              <a:ext uri="{FF2B5EF4-FFF2-40B4-BE49-F238E27FC236}">
                <a16:creationId xmlns:a16="http://schemas.microsoft.com/office/drawing/2014/main" id="{41872706-0AAF-9F54-049B-552E167311F3}"/>
              </a:ext>
            </a:extLst>
          </p:cNvPr>
          <p:cNvSpPr>
            <a:spLocks noGrp="1"/>
          </p:cNvSpPr>
          <p:nvPr>
            <p:ph sz="quarter" idx="13"/>
          </p:nvPr>
        </p:nvSpPr>
        <p:spPr/>
        <p:txBody>
          <a:bodyPr>
            <a:normAutofit fontScale="85000" lnSpcReduction="10000"/>
          </a:bodyPr>
          <a:lstStyle/>
          <a:p>
            <a:pPr marL="0" indent="0">
              <a:buNone/>
            </a:pPr>
            <a:r>
              <a:rPr lang="en-US" dirty="0"/>
              <a:t>Interactive engagement solidifies learning. Below is a quick assessment to test our phishing IQ.</a:t>
            </a:r>
          </a:p>
          <a:p>
            <a:pPr marL="0" indent="0">
              <a:buNone/>
            </a:pPr>
            <a:r>
              <a:rPr lang="en-US" dirty="0"/>
              <a:t>Q1: You receive an urgent email from your bank stating your account will be permanently closed in 24 hours due to "unusual activity." It provides a "Secure Login" link. What should you do? </a:t>
            </a:r>
          </a:p>
          <a:p>
            <a:r>
              <a:rPr lang="en-US" dirty="0"/>
              <a:t>A) Click the link and log in immediately to secure your account.</a:t>
            </a:r>
          </a:p>
          <a:p>
            <a:r>
              <a:rPr lang="en-US" dirty="0"/>
              <a:t>B) Hover over the link to inspect the URL, then navigate directly to your bank's known website to log in.</a:t>
            </a:r>
          </a:p>
          <a:p>
            <a:r>
              <a:rPr lang="en-US" dirty="0"/>
              <a:t>C) Reply to the email asking for more details.</a:t>
            </a:r>
          </a:p>
          <a:p>
            <a:r>
              <a:rPr lang="en-US" i="1" dirty="0">
                <a:solidFill>
                  <a:schemeClr val="accent1"/>
                </a:solidFill>
              </a:rPr>
              <a:t>Answer: B. </a:t>
            </a:r>
            <a:r>
              <a:rPr lang="en-US" i="1" dirty="0"/>
              <a:t>Urgency and fear are classic social engineering tactics. Never use links provided in unsolicited messages.</a:t>
            </a:r>
            <a:r>
              <a:rPr lang="en-US" dirty="0"/>
              <a:t> </a:t>
            </a:r>
          </a:p>
          <a:p>
            <a:endParaRPr lang="en-US" dirty="0"/>
          </a:p>
        </p:txBody>
      </p:sp>
      <p:sp>
        <p:nvSpPr>
          <p:cNvPr id="4" name="Date Placeholder 3">
            <a:extLst>
              <a:ext uri="{FF2B5EF4-FFF2-40B4-BE49-F238E27FC236}">
                <a16:creationId xmlns:a16="http://schemas.microsoft.com/office/drawing/2014/main" id="{A0F08579-FB4C-5A33-C862-3FD8879A316B}"/>
              </a:ext>
            </a:extLst>
          </p:cNvPr>
          <p:cNvSpPr>
            <a:spLocks noGrp="1"/>
          </p:cNvSpPr>
          <p:nvPr>
            <p:ph type="dt" sz="half" idx="10"/>
          </p:nvPr>
        </p:nvSpPr>
        <p:spPr/>
        <p:txBody>
          <a:bodyPr/>
          <a:lstStyle/>
          <a:p>
            <a:fld id="{7363354C-BF60-41B7-BBE2-2E340F6FB939}" type="datetime1">
              <a:rPr lang="en-US" smtClean="0"/>
              <a:t>6/17/2026</a:t>
            </a:fld>
            <a:endParaRPr lang="en-US"/>
          </a:p>
        </p:txBody>
      </p:sp>
    </p:spTree>
    <p:extLst>
      <p:ext uri="{BB962C8B-B14F-4D97-AF65-F5344CB8AC3E}">
        <p14:creationId xmlns:p14="http://schemas.microsoft.com/office/powerpoint/2010/main" val="3305271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D85E23E-0264-2CFF-829E-4687C7B89C21}"/>
              </a:ext>
            </a:extLst>
          </p:cNvPr>
          <p:cNvSpPr>
            <a:spLocks noGrp="1"/>
          </p:cNvSpPr>
          <p:nvPr>
            <p:ph sz="quarter" idx="13"/>
          </p:nvPr>
        </p:nvSpPr>
        <p:spPr>
          <a:xfrm>
            <a:off x="669897" y="1347779"/>
            <a:ext cx="10394707" cy="3311189"/>
          </a:xfrm>
        </p:spPr>
        <p:txBody>
          <a:bodyPr>
            <a:normAutofit fontScale="92500" lnSpcReduction="10000"/>
          </a:bodyPr>
          <a:lstStyle/>
          <a:p>
            <a:pPr marL="0" indent="0">
              <a:buNone/>
            </a:pPr>
            <a:endParaRPr lang="en-US" dirty="0"/>
          </a:p>
          <a:p>
            <a:pPr marL="0" indent="0">
              <a:buNone/>
            </a:pPr>
            <a:r>
              <a:rPr lang="en-US" dirty="0"/>
              <a:t>Q2: An email arrives from "HR Support" with an attachment titled Company_Policy_Update.pdf.exe. Should you open it? </a:t>
            </a:r>
          </a:p>
          <a:p>
            <a:r>
              <a:rPr lang="en-US" dirty="0"/>
              <a:t>A) Yes, it is an important policy update.</a:t>
            </a:r>
          </a:p>
          <a:p>
            <a:r>
              <a:rPr lang="en-US" dirty="0"/>
              <a:t>B) Yes, but only if you scan it with antivirus software first.</a:t>
            </a:r>
          </a:p>
          <a:p>
            <a:r>
              <a:rPr lang="en-US" dirty="0"/>
              <a:t>C) No, executable files (.exe) should never be opened unless explicitly expected and verified.</a:t>
            </a:r>
          </a:p>
          <a:p>
            <a:r>
              <a:rPr lang="en-US" i="1" dirty="0">
                <a:solidFill>
                  <a:schemeClr val="accent1"/>
                </a:solidFill>
              </a:rPr>
              <a:t>Answer: C. </a:t>
            </a:r>
            <a:r>
              <a:rPr lang="en-US" i="1" dirty="0"/>
              <a:t>Executable files hidden behind deceptive names are a common way attackers install malware or ransomware.</a:t>
            </a:r>
            <a:r>
              <a:rPr lang="en-US" dirty="0"/>
              <a:t> </a:t>
            </a:r>
          </a:p>
          <a:p>
            <a:endParaRPr lang="en-US" b="1" dirty="0"/>
          </a:p>
        </p:txBody>
      </p:sp>
      <p:sp>
        <p:nvSpPr>
          <p:cNvPr id="4" name="Date Placeholder 3">
            <a:extLst>
              <a:ext uri="{FF2B5EF4-FFF2-40B4-BE49-F238E27FC236}">
                <a16:creationId xmlns:a16="http://schemas.microsoft.com/office/drawing/2014/main" id="{988FCB63-5792-B2D0-72C3-D0FB83956830}"/>
              </a:ext>
            </a:extLst>
          </p:cNvPr>
          <p:cNvSpPr>
            <a:spLocks noGrp="1"/>
          </p:cNvSpPr>
          <p:nvPr>
            <p:ph type="dt" sz="half" idx="10"/>
          </p:nvPr>
        </p:nvSpPr>
        <p:spPr/>
        <p:txBody>
          <a:bodyPr/>
          <a:lstStyle/>
          <a:p>
            <a:fld id="{E0E8ED0A-2F12-4F4E-99A2-E9BEC6E8B9D6}" type="datetime1">
              <a:rPr lang="en-US" smtClean="0"/>
              <a:t>6/17/2026</a:t>
            </a:fld>
            <a:endParaRPr lang="en-US"/>
          </a:p>
        </p:txBody>
      </p:sp>
    </p:spTree>
    <p:extLst>
      <p:ext uri="{BB962C8B-B14F-4D97-AF65-F5344CB8AC3E}">
        <p14:creationId xmlns:p14="http://schemas.microsoft.com/office/powerpoint/2010/main" val="17215043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E5A2A30-A142-15B0-F7B8-A91D126E9642}"/>
              </a:ext>
            </a:extLst>
          </p:cNvPr>
          <p:cNvSpPr>
            <a:spLocks noGrp="1"/>
          </p:cNvSpPr>
          <p:nvPr>
            <p:ph sz="quarter" idx="13"/>
          </p:nvPr>
        </p:nvSpPr>
        <p:spPr>
          <a:xfrm>
            <a:off x="709654" y="1323924"/>
            <a:ext cx="10394707" cy="3311189"/>
          </a:xfrm>
        </p:spPr>
        <p:txBody>
          <a:bodyPr/>
          <a:lstStyle/>
          <a:p>
            <a:pPr marL="0" indent="0">
              <a:buNone/>
            </a:pPr>
            <a:r>
              <a:rPr lang="en-US" dirty="0"/>
              <a:t>Q3: What is the most reliable way to check if an email with a link is safe before clicking?</a:t>
            </a:r>
          </a:p>
          <a:p>
            <a:r>
              <a:rPr lang="en-US" dirty="0"/>
              <a:t>A) Look at the display name of the sender.</a:t>
            </a:r>
          </a:p>
          <a:p>
            <a:r>
              <a:rPr lang="en-US" dirty="0"/>
              <a:t>B) Hover your mouse over the link to see the actual destination URL in the preview window.</a:t>
            </a:r>
          </a:p>
          <a:p>
            <a:r>
              <a:rPr lang="en-US" dirty="0"/>
              <a:t>C) Check if the email uses proper grammar.</a:t>
            </a:r>
          </a:p>
          <a:p>
            <a:r>
              <a:rPr lang="en-US" i="1" dirty="0">
                <a:solidFill>
                  <a:schemeClr val="accent1"/>
                </a:solidFill>
              </a:rPr>
              <a:t>Answer: B. </a:t>
            </a:r>
            <a:r>
              <a:rPr lang="en-US" i="1" dirty="0"/>
              <a:t>Display names and grammar can be easily forged, but hovering over the link reveals exactly where you are being directed.</a:t>
            </a:r>
            <a:endParaRPr lang="en-US" dirty="0"/>
          </a:p>
          <a:p>
            <a:endParaRPr lang="en-US" dirty="0"/>
          </a:p>
        </p:txBody>
      </p:sp>
      <p:sp>
        <p:nvSpPr>
          <p:cNvPr id="4" name="Date Placeholder 3">
            <a:extLst>
              <a:ext uri="{FF2B5EF4-FFF2-40B4-BE49-F238E27FC236}">
                <a16:creationId xmlns:a16="http://schemas.microsoft.com/office/drawing/2014/main" id="{18AA9E9C-18E3-0467-E55A-43C89F7E6EFA}"/>
              </a:ext>
            </a:extLst>
          </p:cNvPr>
          <p:cNvSpPr>
            <a:spLocks noGrp="1"/>
          </p:cNvSpPr>
          <p:nvPr>
            <p:ph type="dt" sz="half" idx="10"/>
          </p:nvPr>
        </p:nvSpPr>
        <p:spPr/>
        <p:txBody>
          <a:bodyPr/>
          <a:lstStyle/>
          <a:p>
            <a:fld id="{EFD3DE8C-C7CA-4E1C-BF55-06ABF024B06F}" type="datetime1">
              <a:rPr lang="en-US" smtClean="0"/>
              <a:t>6/17/2026</a:t>
            </a:fld>
            <a:endParaRPr lang="en-US"/>
          </a:p>
        </p:txBody>
      </p:sp>
    </p:spTree>
    <p:extLst>
      <p:ext uri="{BB962C8B-B14F-4D97-AF65-F5344CB8AC3E}">
        <p14:creationId xmlns:p14="http://schemas.microsoft.com/office/powerpoint/2010/main" val="7331002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B725837-093A-580A-8DBC-5BD236F66A8A}"/>
              </a:ext>
            </a:extLst>
          </p:cNvPr>
          <p:cNvSpPr>
            <a:spLocks noGrp="1"/>
          </p:cNvSpPr>
          <p:nvPr>
            <p:ph sz="quarter" idx="13"/>
          </p:nvPr>
        </p:nvSpPr>
        <p:spPr>
          <a:xfrm>
            <a:off x="773264" y="1212606"/>
            <a:ext cx="10394707" cy="3311189"/>
          </a:xfrm>
        </p:spPr>
        <p:txBody>
          <a:bodyPr/>
          <a:lstStyle/>
          <a:p>
            <a:pPr marL="0" indent="0">
              <a:buNone/>
            </a:pPr>
            <a:r>
              <a:rPr lang="en-US" dirty="0"/>
              <a:t>Q4: What is the safest action if you receive an unexpected email asking you to reset your password?</a:t>
            </a:r>
          </a:p>
          <a:p>
            <a:r>
              <a:rPr lang="en-US" dirty="0"/>
              <a:t>A) Click the reset link immediately to secure your account</a:t>
            </a:r>
            <a:br>
              <a:rPr lang="en-US" dirty="0"/>
            </a:br>
            <a:r>
              <a:rPr lang="en-US" dirty="0"/>
              <a:t>B) Reply to the email asking for confirmation</a:t>
            </a:r>
            <a:br>
              <a:rPr lang="en-US" dirty="0"/>
            </a:br>
            <a:r>
              <a:rPr lang="en-US" dirty="0"/>
              <a:t>C) Go directly to the official website and reset your password from there</a:t>
            </a:r>
          </a:p>
          <a:p>
            <a:r>
              <a:rPr lang="en-US" i="1" dirty="0">
                <a:solidFill>
                  <a:schemeClr val="accent1"/>
                </a:solidFill>
              </a:rPr>
              <a:t>Answer: C. </a:t>
            </a:r>
            <a:r>
              <a:rPr lang="en-US" i="1" dirty="0"/>
              <a:t>Phishing emails often contain fake reset links. The safest approach is to manually access the official website instead of using embedded links.</a:t>
            </a:r>
            <a:endParaRPr lang="en-US" dirty="0"/>
          </a:p>
          <a:p>
            <a:endParaRPr lang="en-US" dirty="0"/>
          </a:p>
        </p:txBody>
      </p:sp>
      <p:sp>
        <p:nvSpPr>
          <p:cNvPr id="4" name="Date Placeholder 3">
            <a:extLst>
              <a:ext uri="{FF2B5EF4-FFF2-40B4-BE49-F238E27FC236}">
                <a16:creationId xmlns:a16="http://schemas.microsoft.com/office/drawing/2014/main" id="{3B422405-582A-5BF6-40B6-C22BF73A3704}"/>
              </a:ext>
            </a:extLst>
          </p:cNvPr>
          <p:cNvSpPr>
            <a:spLocks noGrp="1"/>
          </p:cNvSpPr>
          <p:nvPr>
            <p:ph type="dt" sz="half" idx="10"/>
          </p:nvPr>
        </p:nvSpPr>
        <p:spPr/>
        <p:txBody>
          <a:bodyPr/>
          <a:lstStyle/>
          <a:p>
            <a:fld id="{0D704AA0-6EC1-4EE7-90C9-5D883021FE22}" type="datetime1">
              <a:rPr lang="en-US" smtClean="0"/>
              <a:t>6/17/2026</a:t>
            </a:fld>
            <a:endParaRPr lang="en-US"/>
          </a:p>
        </p:txBody>
      </p:sp>
    </p:spTree>
    <p:extLst>
      <p:ext uri="{BB962C8B-B14F-4D97-AF65-F5344CB8AC3E}">
        <p14:creationId xmlns:p14="http://schemas.microsoft.com/office/powerpoint/2010/main" val="31298524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8C9C6A5-288B-35EC-E39A-8DC256EBFC38}"/>
              </a:ext>
            </a:extLst>
          </p:cNvPr>
          <p:cNvSpPr>
            <a:spLocks noGrp="1"/>
          </p:cNvSpPr>
          <p:nvPr>
            <p:ph sz="quarter" idx="13"/>
          </p:nvPr>
        </p:nvSpPr>
        <p:spPr>
          <a:xfrm>
            <a:off x="749411" y="1657880"/>
            <a:ext cx="10394707" cy="3311189"/>
          </a:xfrm>
        </p:spPr>
        <p:txBody>
          <a:bodyPr/>
          <a:lstStyle/>
          <a:p>
            <a:pPr marL="0" indent="0">
              <a:buNone/>
            </a:pPr>
            <a:r>
              <a:rPr lang="en-US" dirty="0"/>
              <a:t>Q5: Which of the following is a strong indicator that a website may be fake?</a:t>
            </a:r>
          </a:p>
          <a:p>
            <a:r>
              <a:rPr lang="en-US" dirty="0"/>
              <a:t>A) The website uses HTTPS encryption</a:t>
            </a:r>
            <a:br>
              <a:rPr lang="en-US" dirty="0"/>
            </a:br>
            <a:r>
              <a:rPr lang="en-US" dirty="0"/>
              <a:t>B) The domain name contains slight misspellings or unusual characters</a:t>
            </a:r>
            <a:br>
              <a:rPr lang="en-US" dirty="0"/>
            </a:br>
            <a:r>
              <a:rPr lang="en-US" dirty="0"/>
              <a:t>C) The page loads quickly and looks modern</a:t>
            </a:r>
          </a:p>
          <a:p>
            <a:r>
              <a:rPr lang="en-US" i="1" dirty="0">
                <a:solidFill>
                  <a:schemeClr val="accent1"/>
                </a:solidFill>
              </a:rPr>
              <a:t>Answer: B. </a:t>
            </a:r>
            <a:r>
              <a:rPr lang="en-US" i="1" dirty="0"/>
              <a:t>Attackers often create lookalike domains with minor spelling changes to trick users into believing the site is legitimate.</a:t>
            </a:r>
            <a:endParaRPr lang="en-US" dirty="0"/>
          </a:p>
          <a:p>
            <a:endParaRPr lang="en-US" dirty="0"/>
          </a:p>
        </p:txBody>
      </p:sp>
      <p:sp>
        <p:nvSpPr>
          <p:cNvPr id="4" name="Date Placeholder 3">
            <a:extLst>
              <a:ext uri="{FF2B5EF4-FFF2-40B4-BE49-F238E27FC236}">
                <a16:creationId xmlns:a16="http://schemas.microsoft.com/office/drawing/2014/main" id="{032C8272-9C31-2F60-D386-6B4EAEF7AA43}"/>
              </a:ext>
            </a:extLst>
          </p:cNvPr>
          <p:cNvSpPr>
            <a:spLocks noGrp="1"/>
          </p:cNvSpPr>
          <p:nvPr>
            <p:ph type="dt" sz="half" idx="10"/>
          </p:nvPr>
        </p:nvSpPr>
        <p:spPr/>
        <p:txBody>
          <a:bodyPr/>
          <a:lstStyle/>
          <a:p>
            <a:fld id="{45B97F35-A6C1-4C0E-8971-E588F9CBFC22}" type="datetime1">
              <a:rPr lang="en-US" smtClean="0"/>
              <a:t>6/17/2026</a:t>
            </a:fld>
            <a:endParaRPr lang="en-US"/>
          </a:p>
        </p:txBody>
      </p:sp>
    </p:spTree>
    <p:extLst>
      <p:ext uri="{BB962C8B-B14F-4D97-AF65-F5344CB8AC3E}">
        <p14:creationId xmlns:p14="http://schemas.microsoft.com/office/powerpoint/2010/main" val="23985450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467DBB0-7D86-7773-8509-C6E347EC1B7C}"/>
              </a:ext>
            </a:extLst>
          </p:cNvPr>
          <p:cNvSpPr>
            <a:spLocks noGrp="1"/>
          </p:cNvSpPr>
          <p:nvPr>
            <p:ph sz="quarter" idx="13"/>
          </p:nvPr>
        </p:nvSpPr>
        <p:spPr>
          <a:xfrm>
            <a:off x="765313" y="1546561"/>
            <a:ext cx="10394707" cy="3311189"/>
          </a:xfrm>
        </p:spPr>
        <p:txBody>
          <a:bodyPr/>
          <a:lstStyle/>
          <a:p>
            <a:pPr marL="0" indent="0">
              <a:buNone/>
            </a:pPr>
            <a:r>
              <a:rPr lang="en-US" dirty="0"/>
              <a:t>Q6: What is the main purpose of Multi-Factor Authentication (MFA) in cybersecurity?</a:t>
            </a:r>
          </a:p>
          <a:p>
            <a:r>
              <a:rPr lang="en-US" dirty="0"/>
              <a:t>A) To make passwords easier to remember</a:t>
            </a:r>
            <a:br>
              <a:rPr lang="en-US" dirty="0"/>
            </a:br>
            <a:r>
              <a:rPr lang="en-US" dirty="0"/>
              <a:t>B) To add an extra layer of verification beyond just a password</a:t>
            </a:r>
            <a:br>
              <a:rPr lang="en-US" dirty="0"/>
            </a:br>
            <a:r>
              <a:rPr lang="en-US" dirty="0"/>
              <a:t>C) To automatically block all phishing emails</a:t>
            </a:r>
          </a:p>
          <a:p>
            <a:r>
              <a:rPr lang="en-US" i="1" dirty="0">
                <a:solidFill>
                  <a:schemeClr val="accent1"/>
                </a:solidFill>
              </a:rPr>
              <a:t>Answer: B. </a:t>
            </a:r>
            <a:r>
              <a:rPr lang="en-US" i="1" dirty="0"/>
              <a:t>MFA strengthens account security by requiring additional verification (such as a code or app approval), even if a password is compromised.</a:t>
            </a:r>
            <a:endParaRPr lang="en-US" dirty="0"/>
          </a:p>
          <a:p>
            <a:endParaRPr lang="en-US" dirty="0"/>
          </a:p>
        </p:txBody>
      </p:sp>
      <p:sp>
        <p:nvSpPr>
          <p:cNvPr id="4" name="Date Placeholder 3">
            <a:extLst>
              <a:ext uri="{FF2B5EF4-FFF2-40B4-BE49-F238E27FC236}">
                <a16:creationId xmlns:a16="http://schemas.microsoft.com/office/drawing/2014/main" id="{463A4B4E-56DE-53D5-8B51-50C0090E2596}"/>
              </a:ext>
            </a:extLst>
          </p:cNvPr>
          <p:cNvSpPr>
            <a:spLocks noGrp="1"/>
          </p:cNvSpPr>
          <p:nvPr>
            <p:ph type="dt" sz="half" idx="10"/>
          </p:nvPr>
        </p:nvSpPr>
        <p:spPr/>
        <p:txBody>
          <a:bodyPr/>
          <a:lstStyle/>
          <a:p>
            <a:fld id="{45545C91-7CB0-4D3A-898F-3BB380BA13BF}" type="datetime1">
              <a:rPr lang="en-US" smtClean="0"/>
              <a:t>6/17/2026</a:t>
            </a:fld>
            <a:endParaRPr lang="en-US"/>
          </a:p>
        </p:txBody>
      </p:sp>
    </p:spTree>
    <p:extLst>
      <p:ext uri="{BB962C8B-B14F-4D97-AF65-F5344CB8AC3E}">
        <p14:creationId xmlns:p14="http://schemas.microsoft.com/office/powerpoint/2010/main" val="18298895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2B5172-C81E-D871-4FE0-BA3335140061}"/>
              </a:ext>
            </a:extLst>
          </p:cNvPr>
          <p:cNvSpPr>
            <a:spLocks noGrp="1"/>
          </p:cNvSpPr>
          <p:nvPr>
            <p:ph type="title"/>
          </p:nvPr>
        </p:nvSpPr>
        <p:spPr>
          <a:xfrm>
            <a:off x="598337" y="1417320"/>
            <a:ext cx="10396882" cy="1151965"/>
          </a:xfrm>
        </p:spPr>
        <p:txBody>
          <a:bodyPr>
            <a:normAutofit fontScale="90000"/>
          </a:bodyPr>
          <a:lstStyle/>
          <a:p>
            <a:pPr algn="ctr"/>
            <a:br>
              <a:rPr lang="en-US" sz="3600" dirty="0"/>
            </a:br>
            <a:r>
              <a:rPr lang="en-US" sz="3600" dirty="0"/>
              <a:t>CONCLUSION</a:t>
            </a:r>
            <a:br>
              <a:rPr lang="en-US" dirty="0"/>
            </a:br>
            <a:endParaRPr lang="en-US" dirty="0"/>
          </a:p>
        </p:txBody>
      </p:sp>
      <p:sp>
        <p:nvSpPr>
          <p:cNvPr id="3" name="Content Placeholder 2">
            <a:extLst>
              <a:ext uri="{FF2B5EF4-FFF2-40B4-BE49-F238E27FC236}">
                <a16:creationId xmlns:a16="http://schemas.microsoft.com/office/drawing/2014/main" id="{93CD44C8-442D-2897-FF32-3C2CB57782AD}"/>
              </a:ext>
            </a:extLst>
          </p:cNvPr>
          <p:cNvSpPr>
            <a:spLocks noGrp="1"/>
          </p:cNvSpPr>
          <p:nvPr>
            <p:ph sz="quarter" idx="13"/>
          </p:nvPr>
        </p:nvSpPr>
        <p:spPr/>
        <p:txBody>
          <a:bodyPr/>
          <a:lstStyle/>
          <a:p>
            <a:pPr marL="0" indent="0" algn="just">
              <a:buNone/>
            </a:pPr>
            <a:r>
              <a:rPr lang="en-US" dirty="0"/>
              <a:t>Phishing attacks remain a major cybersecurity threat because they exploit human behavior rather than system weaknesses. This training demonstrates how attackers use fake emails and websites to steal credentials. Staying safe requires simple but consistent practices such as verifying links, using multi-factor authentication, avoiding email login links, and keeping systems updated. With strong awareness and caution, users can effectively reduce the risk of falling victim to phishing attacks.</a:t>
            </a:r>
          </a:p>
          <a:p>
            <a:endParaRPr lang="en-US" dirty="0"/>
          </a:p>
        </p:txBody>
      </p:sp>
      <p:sp>
        <p:nvSpPr>
          <p:cNvPr id="4" name="Date Placeholder 3">
            <a:extLst>
              <a:ext uri="{FF2B5EF4-FFF2-40B4-BE49-F238E27FC236}">
                <a16:creationId xmlns:a16="http://schemas.microsoft.com/office/drawing/2014/main" id="{95F20DEF-5872-81F8-9F48-0592A33E85D2}"/>
              </a:ext>
            </a:extLst>
          </p:cNvPr>
          <p:cNvSpPr>
            <a:spLocks noGrp="1"/>
          </p:cNvSpPr>
          <p:nvPr>
            <p:ph type="dt" sz="half" idx="10"/>
          </p:nvPr>
        </p:nvSpPr>
        <p:spPr/>
        <p:txBody>
          <a:bodyPr/>
          <a:lstStyle/>
          <a:p>
            <a:fld id="{D11E558E-566D-4F19-A53E-7553EDC32C60}" type="datetime1">
              <a:rPr lang="en-US" smtClean="0"/>
              <a:t>6/17/2026</a:t>
            </a:fld>
            <a:endParaRPr lang="en-US"/>
          </a:p>
        </p:txBody>
      </p:sp>
    </p:spTree>
    <p:extLst>
      <p:ext uri="{BB962C8B-B14F-4D97-AF65-F5344CB8AC3E}">
        <p14:creationId xmlns:p14="http://schemas.microsoft.com/office/powerpoint/2010/main" val="1524513599"/>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ain Event">
  <a:themeElements>
    <a:clrScheme name="Main Event">
      <a:dk1>
        <a:sysClr val="windowText" lastClr="000000"/>
      </a:dk1>
      <a:lt1>
        <a:sysClr val="window" lastClr="FFFFFF"/>
      </a:lt1>
      <a:dk2>
        <a:srgbClr val="424242"/>
      </a:dk2>
      <a:lt2>
        <a:srgbClr val="C8C8C8"/>
      </a:lt2>
      <a:accent1>
        <a:srgbClr val="B80E0F"/>
      </a:accent1>
      <a:accent2>
        <a:srgbClr val="A6987D"/>
      </a:accent2>
      <a:accent3>
        <a:srgbClr val="7F9A71"/>
      </a:accent3>
      <a:accent4>
        <a:srgbClr val="64969F"/>
      </a:accent4>
      <a:accent5>
        <a:srgbClr val="9B75B2"/>
      </a:accent5>
      <a:accent6>
        <a:srgbClr val="80737A"/>
      </a:accent6>
      <a:hlink>
        <a:srgbClr val="F21213"/>
      </a:hlink>
      <a:folHlink>
        <a:srgbClr val="B6A394"/>
      </a:folHlink>
    </a:clrScheme>
    <a:fontScheme name="Main Event">
      <a:majorFont>
        <a:latin typeface="Impact" panose="020B080603090205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mpact" panose="020B080603090205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in Event">
      <a:fillStyleLst>
        <a:solidFill>
          <a:schemeClr val="phClr"/>
        </a:solidFill>
        <a:solidFill>
          <a:schemeClr val="phClr">
            <a:tint val="69000"/>
            <a:satMod val="105000"/>
            <a:lumMod val="110000"/>
          </a:schemeClr>
        </a:solidFill>
        <a:blipFill>
          <a:blip xmlns:r="http://schemas.openxmlformats.org/officeDocument/2006/relationships" r:embed="rId1">
            <a:duotone>
              <a:schemeClr val="phClr">
                <a:shade val="88000"/>
                <a:lumMod val="88000"/>
              </a:schemeClr>
              <a:schemeClr val="phClr"/>
            </a:duotone>
          </a:blip>
          <a:tile tx="0" ty="0" sx="100000" sy="100000" flip="none" algn="tl"/>
        </a:blipFill>
      </a:fillStyleLst>
      <a:lnStyleLst>
        <a:ln w="9525" cap="flat" cmpd="sng" algn="ctr">
          <a:solidFill>
            <a:schemeClr val="phClr">
              <a:shade val="60000"/>
            </a:scheme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effectStyle>
        <a:effectStyle>
          <a:effectLst>
            <a:outerShdw blurRad="25400" dist="127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88000"/>
              </a:schemeClr>
            </a:gs>
          </a:gsLst>
          <a:lin ang="5400000" scaled="0"/>
        </a:gradFill>
        <a:blipFill>
          <a:blip xmlns:r="http://schemas.openxmlformats.org/officeDocument/2006/relationships" r:embed="rId2">
            <a:duotone>
              <a:schemeClr val="phClr">
                <a:shade val="48000"/>
                <a:satMod val="110000"/>
                <a:lumMod val="40000"/>
              </a:schemeClr>
              <a:schemeClr val="phClr">
                <a:tint val="90000"/>
                <a:lumMod val="106000"/>
              </a:schemeClr>
            </a:duotone>
          </a:blip>
          <a:stretch/>
        </a:blipFill>
      </a:bgFillStyleLst>
    </a:fmtScheme>
  </a:themeElements>
  <a:objectDefaults/>
  <a:extraClrSchemeLst/>
  <a:extLst>
    <a:ext uri="{05A4C25C-085E-4340-85A3-A5531E510DB2}">
      <thm15:themeFamily xmlns:thm15="http://schemas.microsoft.com/office/thememl/2012/main" name="Main Event" id="{AC372BB4-D83D-411E-B849-B641926BA760}" vid="{F1EFBDE3-1A95-4E3D-81AD-1F53D65BEA0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TM04033927[[fn=Main Event]]</Template>
  <TotalTime>33</TotalTime>
  <Words>1367</Words>
  <Application>Microsoft Office PowerPoint</Application>
  <PresentationFormat>Widescreen</PresentationFormat>
  <Paragraphs>114</Paragraphs>
  <Slides>19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Impact</vt:lpstr>
      <vt:lpstr>Main Event</vt:lpstr>
      <vt:lpstr> PHISHING AWARENESS TRAINING  Understanding, Identifying, and Preventing Phishing Attacks  Title: Phishing Awareness Training   Prepared by: Ubong Okon Solomon </vt:lpstr>
      <vt:lpstr>WHAT IS PHISHING? </vt:lpstr>
      <vt:lpstr> HOW PHISHING WORKS  </vt:lpstr>
      <vt:lpstr>PowerPoint Presentation</vt:lpstr>
      <vt:lpstr>PowerPoint Presentation</vt:lpstr>
      <vt:lpstr>PowerPoint Presentation</vt:lpstr>
      <vt:lpstr>PowerPoint Presentation</vt:lpstr>
      <vt:lpstr>PowerPoint Presentation</vt:lpstr>
      <vt:lpstr> SOCIAL ENGINEERING TECHNIQUES </vt:lpstr>
      <vt:lpstr> HOW TO IDENTIFY PHISHING EMAILS </vt:lpstr>
      <vt:lpstr> HOW TO DETECT FAKE WEBSITES </vt:lpstr>
      <vt:lpstr> BEST PRACTICES TO STAY SAFE </vt:lpstr>
      <vt:lpstr> INTERACTIVE QUIZ </vt:lpstr>
      <vt:lpstr>PowerPoint Presentation</vt:lpstr>
      <vt:lpstr>PowerPoint Presentation</vt:lpstr>
      <vt:lpstr>PowerPoint Presentation</vt:lpstr>
      <vt:lpstr>PowerPoint Presentation</vt:lpstr>
      <vt:lpstr>PowerPoint Presentation</vt:lpstr>
      <vt:lpstr> CONCLUSION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Ubong Solomon</dc:creator>
  <cp:lastModifiedBy>Ubong Solomon</cp:lastModifiedBy>
  <cp:revision>1</cp:revision>
  <dcterms:created xsi:type="dcterms:W3CDTF">2026-06-17T20:53:33Z</dcterms:created>
  <dcterms:modified xsi:type="dcterms:W3CDTF">2026-06-17T21:26:35Z</dcterms:modified>
</cp:coreProperties>
</file>